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3" r:id="rId5"/>
    <p:sldId id="259" r:id="rId6"/>
    <p:sldId id="260" r:id="rId7"/>
    <p:sldId id="263" r:id="rId8"/>
    <p:sldId id="264" r:id="rId9"/>
    <p:sldId id="261" r:id="rId10"/>
    <p:sldId id="274" r:id="rId11"/>
    <p:sldId id="262" r:id="rId12"/>
    <p:sldId id="275" r:id="rId13"/>
    <p:sldId id="276" r:id="rId14"/>
    <p:sldId id="270" r:id="rId15"/>
    <p:sldId id="271" r:id="rId16"/>
    <p:sldId id="267" r:id="rId17"/>
    <p:sldId id="268" r:id="rId18"/>
    <p:sldId id="269" r:id="rId19"/>
    <p:sldId id="272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Fixed n_proc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'Exp 1'!$B$1</c:f>
              <c:strCache>
                <c:ptCount val="1"/>
                <c:pt idx="0">
                  <c:v>Sequential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'Exp 1'!$A$1:$A$101</c:f>
              <c:strCache>
                <c:ptCount val="101"/>
                <c:pt idx="0">
                  <c:v>N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  <c:pt idx="26">
                  <c:v>520000</c:v>
                </c:pt>
                <c:pt idx="27">
                  <c:v>540000</c:v>
                </c:pt>
                <c:pt idx="28">
                  <c:v>560000</c:v>
                </c:pt>
                <c:pt idx="29">
                  <c:v>580000</c:v>
                </c:pt>
                <c:pt idx="30">
                  <c:v>600000</c:v>
                </c:pt>
                <c:pt idx="31">
                  <c:v>620000</c:v>
                </c:pt>
                <c:pt idx="32">
                  <c:v>640000</c:v>
                </c:pt>
                <c:pt idx="33">
                  <c:v>660000</c:v>
                </c:pt>
                <c:pt idx="34">
                  <c:v>680000</c:v>
                </c:pt>
                <c:pt idx="35">
                  <c:v>700000</c:v>
                </c:pt>
                <c:pt idx="36">
                  <c:v>720000</c:v>
                </c:pt>
                <c:pt idx="37">
                  <c:v>740000</c:v>
                </c:pt>
                <c:pt idx="38">
                  <c:v>760000</c:v>
                </c:pt>
                <c:pt idx="39">
                  <c:v>780000</c:v>
                </c:pt>
                <c:pt idx="40">
                  <c:v>800000</c:v>
                </c:pt>
                <c:pt idx="41">
                  <c:v>820000</c:v>
                </c:pt>
                <c:pt idx="42">
                  <c:v>840000</c:v>
                </c:pt>
                <c:pt idx="43">
                  <c:v>860000</c:v>
                </c:pt>
                <c:pt idx="44">
                  <c:v>880000</c:v>
                </c:pt>
                <c:pt idx="45">
                  <c:v>900000</c:v>
                </c:pt>
                <c:pt idx="46">
                  <c:v>920000</c:v>
                </c:pt>
                <c:pt idx="47">
                  <c:v>940000</c:v>
                </c:pt>
                <c:pt idx="48">
                  <c:v>960000</c:v>
                </c:pt>
                <c:pt idx="49">
                  <c:v>980000</c:v>
                </c:pt>
                <c:pt idx="50">
                  <c:v>1000000</c:v>
                </c:pt>
                <c:pt idx="51">
                  <c:v>1020000</c:v>
                </c:pt>
                <c:pt idx="52">
                  <c:v>1040000</c:v>
                </c:pt>
                <c:pt idx="53">
                  <c:v>1060000</c:v>
                </c:pt>
                <c:pt idx="54">
                  <c:v>1080000</c:v>
                </c:pt>
                <c:pt idx="55">
                  <c:v>1100000</c:v>
                </c:pt>
                <c:pt idx="56">
                  <c:v>1120000</c:v>
                </c:pt>
                <c:pt idx="57">
                  <c:v>1140000</c:v>
                </c:pt>
                <c:pt idx="58">
                  <c:v>1160000</c:v>
                </c:pt>
                <c:pt idx="59">
                  <c:v>1180000</c:v>
                </c:pt>
                <c:pt idx="60">
                  <c:v>1200000</c:v>
                </c:pt>
                <c:pt idx="61">
                  <c:v>1220000</c:v>
                </c:pt>
                <c:pt idx="62">
                  <c:v>1240000</c:v>
                </c:pt>
                <c:pt idx="63">
                  <c:v>1260000</c:v>
                </c:pt>
                <c:pt idx="64">
                  <c:v>1280000</c:v>
                </c:pt>
                <c:pt idx="65">
                  <c:v>1300000</c:v>
                </c:pt>
                <c:pt idx="66">
                  <c:v>1320000</c:v>
                </c:pt>
                <c:pt idx="67">
                  <c:v>1340000</c:v>
                </c:pt>
                <c:pt idx="68">
                  <c:v>1360000</c:v>
                </c:pt>
                <c:pt idx="69">
                  <c:v>1380000</c:v>
                </c:pt>
                <c:pt idx="70">
                  <c:v>1400000</c:v>
                </c:pt>
                <c:pt idx="71">
                  <c:v>1420000</c:v>
                </c:pt>
                <c:pt idx="72">
                  <c:v>1440000</c:v>
                </c:pt>
                <c:pt idx="73">
                  <c:v>1460000</c:v>
                </c:pt>
                <c:pt idx="74">
                  <c:v>1480000</c:v>
                </c:pt>
                <c:pt idx="75">
                  <c:v>1500000</c:v>
                </c:pt>
                <c:pt idx="76">
                  <c:v>1520000</c:v>
                </c:pt>
                <c:pt idx="77">
                  <c:v>1540000</c:v>
                </c:pt>
                <c:pt idx="78">
                  <c:v>1560000</c:v>
                </c:pt>
                <c:pt idx="79">
                  <c:v>1580000</c:v>
                </c:pt>
                <c:pt idx="80">
                  <c:v>1600000</c:v>
                </c:pt>
                <c:pt idx="81">
                  <c:v>1620000</c:v>
                </c:pt>
                <c:pt idx="82">
                  <c:v>1640000</c:v>
                </c:pt>
                <c:pt idx="83">
                  <c:v>1660000</c:v>
                </c:pt>
                <c:pt idx="84">
                  <c:v>1680000</c:v>
                </c:pt>
                <c:pt idx="85">
                  <c:v>1700000</c:v>
                </c:pt>
                <c:pt idx="86">
                  <c:v>1720000</c:v>
                </c:pt>
                <c:pt idx="87">
                  <c:v>1740000</c:v>
                </c:pt>
                <c:pt idx="88">
                  <c:v>1760000</c:v>
                </c:pt>
                <c:pt idx="89">
                  <c:v>1780000</c:v>
                </c:pt>
                <c:pt idx="90">
                  <c:v>1800000</c:v>
                </c:pt>
                <c:pt idx="91">
                  <c:v>1820000</c:v>
                </c:pt>
                <c:pt idx="92">
                  <c:v>1840000</c:v>
                </c:pt>
                <c:pt idx="93">
                  <c:v>1860000</c:v>
                </c:pt>
                <c:pt idx="94">
                  <c:v>1880000</c:v>
                </c:pt>
                <c:pt idx="95">
                  <c:v>1900000</c:v>
                </c:pt>
                <c:pt idx="96">
                  <c:v>1920000</c:v>
                </c:pt>
                <c:pt idx="97">
                  <c:v>1940000</c:v>
                </c:pt>
                <c:pt idx="98">
                  <c:v>1960000</c:v>
                </c:pt>
                <c:pt idx="99">
                  <c:v>1980000</c:v>
                </c:pt>
                <c:pt idx="100">
                  <c:v>2000000</c:v>
                </c:pt>
              </c:strCache>
            </c:strRef>
          </c:cat>
          <c:val>
            <c:numRef>
              <c:f>'Exp 1'!$B$2:$B$101</c:f>
              <c:numCache>
                <c:formatCode>General</c:formatCode>
                <c:ptCount val="100"/>
                <c:pt idx="0">
                  <c:v>1.5380000000000001E-3</c:v>
                </c:pt>
                <c:pt idx="1">
                  <c:v>4.1349999999999998E-3</c:v>
                </c:pt>
                <c:pt idx="2">
                  <c:v>5.2570000000000004E-3</c:v>
                </c:pt>
                <c:pt idx="3">
                  <c:v>8.4950000000000008E-3</c:v>
                </c:pt>
                <c:pt idx="4">
                  <c:v>8.1919999999999996E-3</c:v>
                </c:pt>
                <c:pt idx="5">
                  <c:v>1.0515E-2</c:v>
                </c:pt>
                <c:pt idx="6">
                  <c:v>1.1103E-2</c:v>
                </c:pt>
                <c:pt idx="7">
                  <c:v>1.2952999999999999E-2</c:v>
                </c:pt>
                <c:pt idx="8">
                  <c:v>1.4134000000000001E-2</c:v>
                </c:pt>
                <c:pt idx="9">
                  <c:v>9.6259999999999991E-3</c:v>
                </c:pt>
                <c:pt idx="10">
                  <c:v>1.6192000000000002E-2</c:v>
                </c:pt>
                <c:pt idx="11">
                  <c:v>1.1297E-2</c:v>
                </c:pt>
                <c:pt idx="12">
                  <c:v>1.3946999999999999E-2</c:v>
                </c:pt>
                <c:pt idx="13">
                  <c:v>1.3745E-2</c:v>
                </c:pt>
                <c:pt idx="14">
                  <c:v>2.1132000000000001E-2</c:v>
                </c:pt>
                <c:pt idx="15">
                  <c:v>1.8235000000000001E-2</c:v>
                </c:pt>
                <c:pt idx="16">
                  <c:v>2.0421000000000002E-2</c:v>
                </c:pt>
                <c:pt idx="17">
                  <c:v>2.0794E-2</c:v>
                </c:pt>
                <c:pt idx="18">
                  <c:v>2.4121E-2</c:v>
                </c:pt>
                <c:pt idx="19">
                  <c:v>2.2719E-2</c:v>
                </c:pt>
                <c:pt idx="20">
                  <c:v>2.104E-2</c:v>
                </c:pt>
                <c:pt idx="21">
                  <c:v>2.4899999999999999E-2</c:v>
                </c:pt>
                <c:pt idx="22">
                  <c:v>2.1887E-2</c:v>
                </c:pt>
                <c:pt idx="23">
                  <c:v>2.7830000000000001E-2</c:v>
                </c:pt>
                <c:pt idx="24">
                  <c:v>2.5758E-2</c:v>
                </c:pt>
                <c:pt idx="25">
                  <c:v>3.5181999999999998E-2</c:v>
                </c:pt>
                <c:pt idx="26">
                  <c:v>2.9513999999999999E-2</c:v>
                </c:pt>
                <c:pt idx="27">
                  <c:v>2.6960999999999999E-2</c:v>
                </c:pt>
                <c:pt idx="28">
                  <c:v>3.7498999999999998E-2</c:v>
                </c:pt>
                <c:pt idx="29">
                  <c:v>3.2828000000000003E-2</c:v>
                </c:pt>
                <c:pt idx="30">
                  <c:v>3.5221000000000002E-2</c:v>
                </c:pt>
                <c:pt idx="31">
                  <c:v>3.0862000000000001E-2</c:v>
                </c:pt>
                <c:pt idx="32">
                  <c:v>3.3406999999999999E-2</c:v>
                </c:pt>
                <c:pt idx="33">
                  <c:v>3.6339000000000003E-2</c:v>
                </c:pt>
                <c:pt idx="34">
                  <c:v>4.2728000000000002E-2</c:v>
                </c:pt>
                <c:pt idx="35">
                  <c:v>3.4916000000000003E-2</c:v>
                </c:pt>
                <c:pt idx="36">
                  <c:v>3.8434999999999997E-2</c:v>
                </c:pt>
                <c:pt idx="37">
                  <c:v>3.9315999999999997E-2</c:v>
                </c:pt>
                <c:pt idx="38">
                  <c:v>3.8379000000000003E-2</c:v>
                </c:pt>
                <c:pt idx="39">
                  <c:v>4.206E-2</c:v>
                </c:pt>
                <c:pt idx="40">
                  <c:v>4.0549000000000002E-2</c:v>
                </c:pt>
                <c:pt idx="41">
                  <c:v>4.6191000000000003E-2</c:v>
                </c:pt>
                <c:pt idx="42">
                  <c:v>4.1592999999999998E-2</c:v>
                </c:pt>
                <c:pt idx="43">
                  <c:v>4.9722000000000002E-2</c:v>
                </c:pt>
                <c:pt idx="44">
                  <c:v>4.6211000000000002E-2</c:v>
                </c:pt>
                <c:pt idx="45">
                  <c:v>4.4854999999999999E-2</c:v>
                </c:pt>
                <c:pt idx="46">
                  <c:v>5.6226999999999999E-2</c:v>
                </c:pt>
                <c:pt idx="47">
                  <c:v>4.9669999999999999E-2</c:v>
                </c:pt>
                <c:pt idx="48">
                  <c:v>5.1756000000000003E-2</c:v>
                </c:pt>
                <c:pt idx="49">
                  <c:v>4.8396000000000002E-2</c:v>
                </c:pt>
                <c:pt idx="50">
                  <c:v>6.0504000000000002E-2</c:v>
                </c:pt>
                <c:pt idx="51">
                  <c:v>5.6531999999999999E-2</c:v>
                </c:pt>
                <c:pt idx="52">
                  <c:v>5.7717999999999998E-2</c:v>
                </c:pt>
                <c:pt idx="53">
                  <c:v>5.4916E-2</c:v>
                </c:pt>
                <c:pt idx="54">
                  <c:v>5.3738000000000001E-2</c:v>
                </c:pt>
                <c:pt idx="55">
                  <c:v>5.4886999999999998E-2</c:v>
                </c:pt>
                <c:pt idx="56">
                  <c:v>5.5115999999999998E-2</c:v>
                </c:pt>
                <c:pt idx="57">
                  <c:v>5.6216000000000002E-2</c:v>
                </c:pt>
                <c:pt idx="58">
                  <c:v>6.4293000000000003E-2</c:v>
                </c:pt>
                <c:pt idx="59">
                  <c:v>5.8955E-2</c:v>
                </c:pt>
                <c:pt idx="60">
                  <c:v>6.5165000000000001E-2</c:v>
                </c:pt>
                <c:pt idx="61">
                  <c:v>6.1484999999999998E-2</c:v>
                </c:pt>
                <c:pt idx="62">
                  <c:v>6.0900000000000003E-2</c:v>
                </c:pt>
                <c:pt idx="63">
                  <c:v>6.6004999999999994E-2</c:v>
                </c:pt>
                <c:pt idx="64">
                  <c:v>6.6769999999999996E-2</c:v>
                </c:pt>
                <c:pt idx="65">
                  <c:v>6.8302000000000002E-2</c:v>
                </c:pt>
                <c:pt idx="66">
                  <c:v>7.1714E-2</c:v>
                </c:pt>
                <c:pt idx="67">
                  <c:v>6.6391000000000006E-2</c:v>
                </c:pt>
                <c:pt idx="68">
                  <c:v>6.9667999999999994E-2</c:v>
                </c:pt>
                <c:pt idx="69">
                  <c:v>6.8262000000000003E-2</c:v>
                </c:pt>
                <c:pt idx="70">
                  <c:v>7.2749999999999995E-2</c:v>
                </c:pt>
                <c:pt idx="71">
                  <c:v>7.0939000000000002E-2</c:v>
                </c:pt>
                <c:pt idx="72">
                  <c:v>7.2687000000000002E-2</c:v>
                </c:pt>
                <c:pt idx="73">
                  <c:v>7.6962000000000003E-2</c:v>
                </c:pt>
                <c:pt idx="74">
                  <c:v>7.8144000000000005E-2</c:v>
                </c:pt>
                <c:pt idx="75">
                  <c:v>7.4897000000000005E-2</c:v>
                </c:pt>
                <c:pt idx="76">
                  <c:v>7.8410999999999995E-2</c:v>
                </c:pt>
                <c:pt idx="77">
                  <c:v>7.7325000000000005E-2</c:v>
                </c:pt>
                <c:pt idx="78">
                  <c:v>7.9283999999999993E-2</c:v>
                </c:pt>
                <c:pt idx="79">
                  <c:v>7.7947000000000002E-2</c:v>
                </c:pt>
                <c:pt idx="80">
                  <c:v>8.2548999999999997E-2</c:v>
                </c:pt>
                <c:pt idx="81">
                  <c:v>8.7591000000000002E-2</c:v>
                </c:pt>
                <c:pt idx="82">
                  <c:v>0.09</c:v>
                </c:pt>
                <c:pt idx="83">
                  <c:v>8.3126000000000005E-2</c:v>
                </c:pt>
                <c:pt idx="84">
                  <c:v>8.7447999999999998E-2</c:v>
                </c:pt>
                <c:pt idx="85">
                  <c:v>8.2996E-2</c:v>
                </c:pt>
                <c:pt idx="86">
                  <c:v>8.5616999999999999E-2</c:v>
                </c:pt>
                <c:pt idx="87">
                  <c:v>0.100872</c:v>
                </c:pt>
                <c:pt idx="88">
                  <c:v>8.7937000000000001E-2</c:v>
                </c:pt>
                <c:pt idx="89">
                  <c:v>9.4080999999999998E-2</c:v>
                </c:pt>
                <c:pt idx="90">
                  <c:v>9.7897999999999999E-2</c:v>
                </c:pt>
                <c:pt idx="91">
                  <c:v>9.0301999999999993E-2</c:v>
                </c:pt>
                <c:pt idx="92">
                  <c:v>9.6656000000000006E-2</c:v>
                </c:pt>
                <c:pt idx="93">
                  <c:v>9.9566000000000002E-2</c:v>
                </c:pt>
                <c:pt idx="94">
                  <c:v>0.101484</c:v>
                </c:pt>
                <c:pt idx="95">
                  <c:v>9.4228000000000006E-2</c:v>
                </c:pt>
                <c:pt idx="96">
                  <c:v>9.4684000000000004E-2</c:v>
                </c:pt>
                <c:pt idx="97">
                  <c:v>0.10220600000000001</c:v>
                </c:pt>
                <c:pt idx="98">
                  <c:v>9.7470000000000001E-2</c:v>
                </c:pt>
                <c:pt idx="99">
                  <c:v>0.11444600000000001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07-42DD-ABE1-7D04D39D3F8B}"/>
            </c:ext>
          </c:extLst>
        </c:ser>
        <c:ser>
          <c:idx val="1"/>
          <c:order val="1"/>
          <c:tx>
            <c:strRef>
              <c:f>'Exp 1'!$C$1</c:f>
              <c:strCache>
                <c:ptCount val="1"/>
                <c:pt idx="0">
                  <c:v>Parallel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'Exp 1'!$A$1:$A$101</c:f>
              <c:strCache>
                <c:ptCount val="101"/>
                <c:pt idx="0">
                  <c:v>N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  <c:pt idx="26">
                  <c:v>520000</c:v>
                </c:pt>
                <c:pt idx="27">
                  <c:v>540000</c:v>
                </c:pt>
                <c:pt idx="28">
                  <c:v>560000</c:v>
                </c:pt>
                <c:pt idx="29">
                  <c:v>580000</c:v>
                </c:pt>
                <c:pt idx="30">
                  <c:v>600000</c:v>
                </c:pt>
                <c:pt idx="31">
                  <c:v>620000</c:v>
                </c:pt>
                <c:pt idx="32">
                  <c:v>640000</c:v>
                </c:pt>
                <c:pt idx="33">
                  <c:v>660000</c:v>
                </c:pt>
                <c:pt idx="34">
                  <c:v>680000</c:v>
                </c:pt>
                <c:pt idx="35">
                  <c:v>700000</c:v>
                </c:pt>
                <c:pt idx="36">
                  <c:v>720000</c:v>
                </c:pt>
                <c:pt idx="37">
                  <c:v>740000</c:v>
                </c:pt>
                <c:pt idx="38">
                  <c:v>760000</c:v>
                </c:pt>
                <c:pt idx="39">
                  <c:v>780000</c:v>
                </c:pt>
                <c:pt idx="40">
                  <c:v>800000</c:v>
                </c:pt>
                <c:pt idx="41">
                  <c:v>820000</c:v>
                </c:pt>
                <c:pt idx="42">
                  <c:v>840000</c:v>
                </c:pt>
                <c:pt idx="43">
                  <c:v>860000</c:v>
                </c:pt>
                <c:pt idx="44">
                  <c:v>880000</c:v>
                </c:pt>
                <c:pt idx="45">
                  <c:v>900000</c:v>
                </c:pt>
                <c:pt idx="46">
                  <c:v>920000</c:v>
                </c:pt>
                <c:pt idx="47">
                  <c:v>940000</c:v>
                </c:pt>
                <c:pt idx="48">
                  <c:v>960000</c:v>
                </c:pt>
                <c:pt idx="49">
                  <c:v>980000</c:v>
                </c:pt>
                <c:pt idx="50">
                  <c:v>1000000</c:v>
                </c:pt>
                <c:pt idx="51">
                  <c:v>1020000</c:v>
                </c:pt>
                <c:pt idx="52">
                  <c:v>1040000</c:v>
                </c:pt>
                <c:pt idx="53">
                  <c:v>1060000</c:v>
                </c:pt>
                <c:pt idx="54">
                  <c:v>1080000</c:v>
                </c:pt>
                <c:pt idx="55">
                  <c:v>1100000</c:v>
                </c:pt>
                <c:pt idx="56">
                  <c:v>1120000</c:v>
                </c:pt>
                <c:pt idx="57">
                  <c:v>1140000</c:v>
                </c:pt>
                <c:pt idx="58">
                  <c:v>1160000</c:v>
                </c:pt>
                <c:pt idx="59">
                  <c:v>1180000</c:v>
                </c:pt>
                <c:pt idx="60">
                  <c:v>1200000</c:v>
                </c:pt>
                <c:pt idx="61">
                  <c:v>1220000</c:v>
                </c:pt>
                <c:pt idx="62">
                  <c:v>1240000</c:v>
                </c:pt>
                <c:pt idx="63">
                  <c:v>1260000</c:v>
                </c:pt>
                <c:pt idx="64">
                  <c:v>1280000</c:v>
                </c:pt>
                <c:pt idx="65">
                  <c:v>1300000</c:v>
                </c:pt>
                <c:pt idx="66">
                  <c:v>1320000</c:v>
                </c:pt>
                <c:pt idx="67">
                  <c:v>1340000</c:v>
                </c:pt>
                <c:pt idx="68">
                  <c:v>1360000</c:v>
                </c:pt>
                <c:pt idx="69">
                  <c:v>1380000</c:v>
                </c:pt>
                <c:pt idx="70">
                  <c:v>1400000</c:v>
                </c:pt>
                <c:pt idx="71">
                  <c:v>1420000</c:v>
                </c:pt>
                <c:pt idx="72">
                  <c:v>1440000</c:v>
                </c:pt>
                <c:pt idx="73">
                  <c:v>1460000</c:v>
                </c:pt>
                <c:pt idx="74">
                  <c:v>1480000</c:v>
                </c:pt>
                <c:pt idx="75">
                  <c:v>1500000</c:v>
                </c:pt>
                <c:pt idx="76">
                  <c:v>1520000</c:v>
                </c:pt>
                <c:pt idx="77">
                  <c:v>1540000</c:v>
                </c:pt>
                <c:pt idx="78">
                  <c:v>1560000</c:v>
                </c:pt>
                <c:pt idx="79">
                  <c:v>1580000</c:v>
                </c:pt>
                <c:pt idx="80">
                  <c:v>1600000</c:v>
                </c:pt>
                <c:pt idx="81">
                  <c:v>1620000</c:v>
                </c:pt>
                <c:pt idx="82">
                  <c:v>1640000</c:v>
                </c:pt>
                <c:pt idx="83">
                  <c:v>1660000</c:v>
                </c:pt>
                <c:pt idx="84">
                  <c:v>1680000</c:v>
                </c:pt>
                <c:pt idx="85">
                  <c:v>1700000</c:v>
                </c:pt>
                <c:pt idx="86">
                  <c:v>1720000</c:v>
                </c:pt>
                <c:pt idx="87">
                  <c:v>1740000</c:v>
                </c:pt>
                <c:pt idx="88">
                  <c:v>1760000</c:v>
                </c:pt>
                <c:pt idx="89">
                  <c:v>1780000</c:v>
                </c:pt>
                <c:pt idx="90">
                  <c:v>1800000</c:v>
                </c:pt>
                <c:pt idx="91">
                  <c:v>1820000</c:v>
                </c:pt>
                <c:pt idx="92">
                  <c:v>1840000</c:v>
                </c:pt>
                <c:pt idx="93">
                  <c:v>1860000</c:v>
                </c:pt>
                <c:pt idx="94">
                  <c:v>1880000</c:v>
                </c:pt>
                <c:pt idx="95">
                  <c:v>1900000</c:v>
                </c:pt>
                <c:pt idx="96">
                  <c:v>1920000</c:v>
                </c:pt>
                <c:pt idx="97">
                  <c:v>1940000</c:v>
                </c:pt>
                <c:pt idx="98">
                  <c:v>1960000</c:v>
                </c:pt>
                <c:pt idx="99">
                  <c:v>1980000</c:v>
                </c:pt>
                <c:pt idx="100">
                  <c:v>2000000</c:v>
                </c:pt>
              </c:strCache>
            </c:strRef>
          </c:cat>
          <c:val>
            <c:numRef>
              <c:f>'Exp 1'!$C$2:$C$101</c:f>
              <c:numCache>
                <c:formatCode>General</c:formatCode>
                <c:ptCount val="100"/>
                <c:pt idx="0">
                  <c:v>3.6410000000000001E-3</c:v>
                </c:pt>
                <c:pt idx="1">
                  <c:v>6.7409999999999996E-3</c:v>
                </c:pt>
                <c:pt idx="2">
                  <c:v>6.8609999999999999E-3</c:v>
                </c:pt>
                <c:pt idx="3">
                  <c:v>1.1642E-2</c:v>
                </c:pt>
                <c:pt idx="4">
                  <c:v>9.4319999999999994E-3</c:v>
                </c:pt>
                <c:pt idx="5">
                  <c:v>1.1722E-2</c:v>
                </c:pt>
                <c:pt idx="6">
                  <c:v>1.2423999999999999E-2</c:v>
                </c:pt>
                <c:pt idx="7">
                  <c:v>1.5342E-2</c:v>
                </c:pt>
                <c:pt idx="8">
                  <c:v>1.5041000000000001E-2</c:v>
                </c:pt>
                <c:pt idx="9">
                  <c:v>1.0521000000000001E-2</c:v>
                </c:pt>
                <c:pt idx="10">
                  <c:v>1.6614E-2</c:v>
                </c:pt>
                <c:pt idx="11">
                  <c:v>1.2434000000000001E-2</c:v>
                </c:pt>
                <c:pt idx="12">
                  <c:v>1.4227999999999999E-2</c:v>
                </c:pt>
                <c:pt idx="13">
                  <c:v>1.5074000000000001E-2</c:v>
                </c:pt>
                <c:pt idx="14">
                  <c:v>2.0104E-2</c:v>
                </c:pt>
                <c:pt idx="15">
                  <c:v>2.0327999999999999E-2</c:v>
                </c:pt>
                <c:pt idx="16">
                  <c:v>2.1513000000000001E-2</c:v>
                </c:pt>
                <c:pt idx="17">
                  <c:v>2.3777E-2</c:v>
                </c:pt>
                <c:pt idx="18">
                  <c:v>2.019E-2</c:v>
                </c:pt>
                <c:pt idx="19">
                  <c:v>2.0877E-2</c:v>
                </c:pt>
                <c:pt idx="20">
                  <c:v>2.1128000000000001E-2</c:v>
                </c:pt>
                <c:pt idx="21">
                  <c:v>2.3449000000000001E-2</c:v>
                </c:pt>
                <c:pt idx="22">
                  <c:v>2.4473999999999999E-2</c:v>
                </c:pt>
                <c:pt idx="23">
                  <c:v>2.6252000000000001E-2</c:v>
                </c:pt>
                <c:pt idx="24">
                  <c:v>2.478E-2</c:v>
                </c:pt>
                <c:pt idx="25">
                  <c:v>3.1129E-2</c:v>
                </c:pt>
                <c:pt idx="26">
                  <c:v>2.6315999999999999E-2</c:v>
                </c:pt>
                <c:pt idx="27">
                  <c:v>2.7913E-2</c:v>
                </c:pt>
                <c:pt idx="28">
                  <c:v>3.2515000000000002E-2</c:v>
                </c:pt>
                <c:pt idx="29">
                  <c:v>3.0491000000000001E-2</c:v>
                </c:pt>
                <c:pt idx="30">
                  <c:v>3.0852000000000001E-2</c:v>
                </c:pt>
                <c:pt idx="31">
                  <c:v>3.2085000000000002E-2</c:v>
                </c:pt>
                <c:pt idx="32">
                  <c:v>3.4958999999999997E-2</c:v>
                </c:pt>
                <c:pt idx="33">
                  <c:v>3.2666000000000001E-2</c:v>
                </c:pt>
                <c:pt idx="34">
                  <c:v>3.4820999999999998E-2</c:v>
                </c:pt>
                <c:pt idx="35">
                  <c:v>3.5383999999999999E-2</c:v>
                </c:pt>
                <c:pt idx="36">
                  <c:v>3.7872000000000003E-2</c:v>
                </c:pt>
                <c:pt idx="37">
                  <c:v>3.8530000000000002E-2</c:v>
                </c:pt>
                <c:pt idx="38">
                  <c:v>3.7525000000000003E-2</c:v>
                </c:pt>
                <c:pt idx="39">
                  <c:v>3.8873999999999999E-2</c:v>
                </c:pt>
                <c:pt idx="40">
                  <c:v>4.0710000000000003E-2</c:v>
                </c:pt>
                <c:pt idx="41">
                  <c:v>4.6185999999999998E-2</c:v>
                </c:pt>
                <c:pt idx="42">
                  <c:v>4.1708000000000002E-2</c:v>
                </c:pt>
                <c:pt idx="43">
                  <c:v>4.1798000000000002E-2</c:v>
                </c:pt>
                <c:pt idx="44">
                  <c:v>4.3572E-2</c:v>
                </c:pt>
                <c:pt idx="45">
                  <c:v>4.5761999999999997E-2</c:v>
                </c:pt>
                <c:pt idx="46">
                  <c:v>4.6274000000000003E-2</c:v>
                </c:pt>
                <c:pt idx="47">
                  <c:v>4.9584000000000003E-2</c:v>
                </c:pt>
                <c:pt idx="48">
                  <c:v>4.9359E-2</c:v>
                </c:pt>
                <c:pt idx="49">
                  <c:v>4.7927999999999998E-2</c:v>
                </c:pt>
                <c:pt idx="50">
                  <c:v>4.9057000000000003E-2</c:v>
                </c:pt>
                <c:pt idx="51">
                  <c:v>5.1071999999999999E-2</c:v>
                </c:pt>
                <c:pt idx="52">
                  <c:v>5.0473999999999998E-2</c:v>
                </c:pt>
                <c:pt idx="53">
                  <c:v>5.6208000000000001E-2</c:v>
                </c:pt>
                <c:pt idx="54">
                  <c:v>5.2944999999999999E-2</c:v>
                </c:pt>
                <c:pt idx="55">
                  <c:v>5.5403000000000001E-2</c:v>
                </c:pt>
                <c:pt idx="56">
                  <c:v>5.4701E-2</c:v>
                </c:pt>
                <c:pt idx="57">
                  <c:v>5.5173E-2</c:v>
                </c:pt>
                <c:pt idx="58">
                  <c:v>5.6784000000000001E-2</c:v>
                </c:pt>
                <c:pt idx="59">
                  <c:v>5.6760999999999999E-2</c:v>
                </c:pt>
                <c:pt idx="60">
                  <c:v>5.8932999999999999E-2</c:v>
                </c:pt>
                <c:pt idx="61">
                  <c:v>5.9055999999999997E-2</c:v>
                </c:pt>
                <c:pt idx="62">
                  <c:v>6.3337000000000004E-2</c:v>
                </c:pt>
                <c:pt idx="63">
                  <c:v>6.1866999999999998E-2</c:v>
                </c:pt>
                <c:pt idx="64">
                  <c:v>6.2105E-2</c:v>
                </c:pt>
                <c:pt idx="65">
                  <c:v>6.3022999999999996E-2</c:v>
                </c:pt>
                <c:pt idx="66">
                  <c:v>6.3828999999999997E-2</c:v>
                </c:pt>
                <c:pt idx="67">
                  <c:v>6.4798999999999995E-2</c:v>
                </c:pt>
                <c:pt idx="68">
                  <c:v>6.5570000000000003E-2</c:v>
                </c:pt>
                <c:pt idx="69">
                  <c:v>6.6750000000000004E-2</c:v>
                </c:pt>
                <c:pt idx="70">
                  <c:v>6.6784999999999997E-2</c:v>
                </c:pt>
                <c:pt idx="71">
                  <c:v>6.9231000000000001E-2</c:v>
                </c:pt>
                <c:pt idx="72">
                  <c:v>7.0719000000000004E-2</c:v>
                </c:pt>
                <c:pt idx="73">
                  <c:v>7.1571999999999997E-2</c:v>
                </c:pt>
                <c:pt idx="74">
                  <c:v>7.1244000000000002E-2</c:v>
                </c:pt>
                <c:pt idx="75">
                  <c:v>7.1566000000000005E-2</c:v>
                </c:pt>
                <c:pt idx="76">
                  <c:v>7.5201000000000004E-2</c:v>
                </c:pt>
                <c:pt idx="77">
                  <c:v>7.4632000000000004E-2</c:v>
                </c:pt>
                <c:pt idx="78">
                  <c:v>7.6837000000000003E-2</c:v>
                </c:pt>
                <c:pt idx="79">
                  <c:v>7.5897000000000006E-2</c:v>
                </c:pt>
                <c:pt idx="80">
                  <c:v>7.9282000000000005E-2</c:v>
                </c:pt>
                <c:pt idx="81">
                  <c:v>8.0113000000000004E-2</c:v>
                </c:pt>
                <c:pt idx="82">
                  <c:v>8.0397999999999997E-2</c:v>
                </c:pt>
                <c:pt idx="83">
                  <c:v>8.5082000000000005E-2</c:v>
                </c:pt>
                <c:pt idx="84">
                  <c:v>8.4374000000000005E-2</c:v>
                </c:pt>
                <c:pt idx="85">
                  <c:v>8.2192000000000001E-2</c:v>
                </c:pt>
                <c:pt idx="86">
                  <c:v>8.5831000000000005E-2</c:v>
                </c:pt>
                <c:pt idx="87">
                  <c:v>8.5775000000000004E-2</c:v>
                </c:pt>
                <c:pt idx="88">
                  <c:v>9.2269000000000004E-2</c:v>
                </c:pt>
                <c:pt idx="89">
                  <c:v>8.7543999999999997E-2</c:v>
                </c:pt>
                <c:pt idx="90">
                  <c:v>9.0755000000000002E-2</c:v>
                </c:pt>
                <c:pt idx="91">
                  <c:v>8.9735999999999996E-2</c:v>
                </c:pt>
                <c:pt idx="92">
                  <c:v>8.8003999999999999E-2</c:v>
                </c:pt>
                <c:pt idx="93">
                  <c:v>9.5563999999999996E-2</c:v>
                </c:pt>
                <c:pt idx="94">
                  <c:v>9.4671000000000005E-2</c:v>
                </c:pt>
                <c:pt idx="95">
                  <c:v>9.0292999999999998E-2</c:v>
                </c:pt>
                <c:pt idx="96">
                  <c:v>9.1419E-2</c:v>
                </c:pt>
                <c:pt idx="97">
                  <c:v>9.6518999999999994E-2</c:v>
                </c:pt>
                <c:pt idx="98">
                  <c:v>9.3304999999999999E-2</c:v>
                </c:pt>
                <c:pt idx="99">
                  <c:v>9.5915E-2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07-42DD-ABE1-7D04D39D3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75162064"/>
        <c:axId val="1575163504"/>
      </c:lineChart>
      <c:catAx>
        <c:axId val="1575162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163504"/>
        <c:crosses val="autoZero"/>
        <c:auto val="1"/>
        <c:lblAlgn val="ctr"/>
        <c:lblOffset val="100"/>
        <c:noMultiLvlLbl val="0"/>
      </c:catAx>
      <c:valAx>
        <c:axId val="1575163504"/>
        <c:scaling>
          <c:orientation val="minMax"/>
          <c:max val="0.1200000000000000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75162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Fixed 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'Exp 2'!$B$1</c:f>
              <c:strCache>
                <c:ptCount val="1"/>
                <c:pt idx="0">
                  <c:v>Sequential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'Exp 2'!$A$1:$A$25</c:f>
              <c:strCache>
                <c:ptCount val="25"/>
                <c:pt idx="0">
                  <c:v>n_proc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strCache>
            </c:strRef>
          </c:cat>
          <c:val>
            <c:numRef>
              <c:f>'Exp 2'!$B$2:$B$25</c:f>
              <c:numCache>
                <c:formatCode>General</c:formatCode>
                <c:ptCount val="24"/>
                <c:pt idx="0">
                  <c:v>0.103489</c:v>
                </c:pt>
                <c:pt idx="1">
                  <c:v>9.9867999999999998E-2</c:v>
                </c:pt>
                <c:pt idx="2">
                  <c:v>9.9806000000000006E-2</c:v>
                </c:pt>
                <c:pt idx="3">
                  <c:v>0.1008445</c:v>
                </c:pt>
                <c:pt idx="4">
                  <c:v>0.10022</c:v>
                </c:pt>
                <c:pt idx="5">
                  <c:v>0.10116700000000001</c:v>
                </c:pt>
                <c:pt idx="6">
                  <c:v>0.102245</c:v>
                </c:pt>
                <c:pt idx="7">
                  <c:v>0.100771</c:v>
                </c:pt>
                <c:pt idx="8">
                  <c:v>0.10124850000000001</c:v>
                </c:pt>
                <c:pt idx="9">
                  <c:v>0.100906</c:v>
                </c:pt>
                <c:pt idx="10">
                  <c:v>0.10068099999999999</c:v>
                </c:pt>
                <c:pt idx="11">
                  <c:v>0.10137550000000001</c:v>
                </c:pt>
                <c:pt idx="12">
                  <c:v>0.101769</c:v>
                </c:pt>
                <c:pt idx="13">
                  <c:v>0.102979</c:v>
                </c:pt>
                <c:pt idx="14">
                  <c:v>0.1019185</c:v>
                </c:pt>
                <c:pt idx="15">
                  <c:v>0.10226250000000001</c:v>
                </c:pt>
                <c:pt idx="16">
                  <c:v>0.10117950000000001</c:v>
                </c:pt>
                <c:pt idx="17">
                  <c:v>0.10130700000000001</c:v>
                </c:pt>
                <c:pt idx="18">
                  <c:v>0.10117499999999999</c:v>
                </c:pt>
                <c:pt idx="19">
                  <c:v>9.9660499999999999E-2</c:v>
                </c:pt>
                <c:pt idx="20">
                  <c:v>9.9635000000000001E-2</c:v>
                </c:pt>
                <c:pt idx="21">
                  <c:v>0.1011445</c:v>
                </c:pt>
                <c:pt idx="22">
                  <c:v>0.10079199999999999</c:v>
                </c:pt>
                <c:pt idx="23">
                  <c:v>0.10061049999999999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E2-401B-BDA2-173245FD51A0}"/>
            </c:ext>
          </c:extLst>
        </c:ser>
        <c:ser>
          <c:idx val="1"/>
          <c:order val="1"/>
          <c:tx>
            <c:strRef>
              <c:f>'Exp 2'!$C$1</c:f>
              <c:strCache>
                <c:ptCount val="1"/>
                <c:pt idx="0">
                  <c:v>Parallel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'Exp 2'!$A$1:$A$25</c:f>
              <c:strCache>
                <c:ptCount val="25"/>
                <c:pt idx="0">
                  <c:v>n_proc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strCache>
            </c:strRef>
          </c:cat>
          <c:val>
            <c:numRef>
              <c:f>'Exp 2'!$C$2:$C$25</c:f>
              <c:numCache>
                <c:formatCode>General</c:formatCode>
                <c:ptCount val="24"/>
                <c:pt idx="0">
                  <c:v>0.104826</c:v>
                </c:pt>
                <c:pt idx="1">
                  <c:v>0.10305500000000001</c:v>
                </c:pt>
                <c:pt idx="2">
                  <c:v>0.1032545</c:v>
                </c:pt>
                <c:pt idx="3">
                  <c:v>0.103062</c:v>
                </c:pt>
                <c:pt idx="4">
                  <c:v>0.10059899999999999</c:v>
                </c:pt>
                <c:pt idx="5">
                  <c:v>8.7485999999999994E-2</c:v>
                </c:pt>
                <c:pt idx="6">
                  <c:v>8.4331000000000003E-2</c:v>
                </c:pt>
                <c:pt idx="7">
                  <c:v>8.4732000000000002E-2</c:v>
                </c:pt>
                <c:pt idx="8">
                  <c:v>8.5403000000000007E-2</c:v>
                </c:pt>
                <c:pt idx="9">
                  <c:v>8.5176000000000002E-2</c:v>
                </c:pt>
                <c:pt idx="10">
                  <c:v>8.3644999999999997E-2</c:v>
                </c:pt>
                <c:pt idx="11">
                  <c:v>9.0492000000000003E-2</c:v>
                </c:pt>
                <c:pt idx="12">
                  <c:v>0.1012055</c:v>
                </c:pt>
                <c:pt idx="13">
                  <c:v>0.1050065</c:v>
                </c:pt>
                <c:pt idx="14">
                  <c:v>0.10381899999999999</c:v>
                </c:pt>
                <c:pt idx="15">
                  <c:v>0.103759</c:v>
                </c:pt>
                <c:pt idx="16">
                  <c:v>0.10378</c:v>
                </c:pt>
                <c:pt idx="17">
                  <c:v>0.10467799999999999</c:v>
                </c:pt>
                <c:pt idx="18">
                  <c:v>0.10412200000000001</c:v>
                </c:pt>
                <c:pt idx="19">
                  <c:v>0.101411</c:v>
                </c:pt>
                <c:pt idx="20">
                  <c:v>0.10011399999999999</c:v>
                </c:pt>
                <c:pt idx="21">
                  <c:v>0.102254</c:v>
                </c:pt>
                <c:pt idx="22">
                  <c:v>0.104657</c:v>
                </c:pt>
                <c:pt idx="23">
                  <c:v>0.10734299999999999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E2-401B-BDA2-173245FD5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2034479"/>
        <c:axId val="1422033039"/>
      </c:lineChart>
      <c:catAx>
        <c:axId val="142203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2033039"/>
        <c:crosses val="autoZero"/>
        <c:auto val="1"/>
        <c:lblAlgn val="ctr"/>
        <c:lblOffset val="100"/>
        <c:noMultiLvlLbl val="0"/>
      </c:catAx>
      <c:valAx>
        <c:axId val="1422033039"/>
        <c:scaling>
          <c:orientation val="minMax"/>
          <c:min val="5.000000000000001E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2034479"/>
        <c:crosses val="autoZero"/>
        <c:crossBetween val="between"/>
      </c:valAx>
      <c:spPr>
        <a:solidFill>
          <a:schemeClr val="lt1"/>
        </a:solidFill>
        <a:ln w="12700" cap="flat" cmpd="sng" algn="ctr">
          <a:solidFill>
            <a:schemeClr val="dk1"/>
          </a:solidFill>
          <a:prstDash val="solid"/>
          <a:miter lim="800000"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704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8BBE2-7578-9BEB-14BD-464DB3ACA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27920-DE4C-B486-AD25-3E2134243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31FEF-273E-9FF7-5447-19A6D6A871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025C-3118-B675-5E42-3686485C2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24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DE5BB-BF30-2C14-B27F-99A0090ED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D3F03-F97B-D4F0-8FA2-A06D965A5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5EE75-9139-7857-62CE-C58134B7B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9C8D2-117F-F81C-C69D-5A3B584DA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89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2F6D-EE33-66CD-3420-B13D38E8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73A71-D3F9-C8B4-59C0-047FB7C65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31BD0-9922-D0FA-903A-BA4554B82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2A8BA-A56C-DC5A-17C3-083BA4E9D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526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BE31-733E-273D-9430-6B376829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0EC76-1276-0401-E817-9732074C8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B3FA4-68C1-60EE-313B-E5D398FF0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D406-3FAF-3F30-F5FC-7C82F0DC77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02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90AE-E438-C30A-B553-1C633488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F6CA4-A566-7479-1370-F755BDEB9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3278C-2134-5F7B-39F1-CBD1956DB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66799-9BAE-EB80-9437-71801D1DA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515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45FF4-4C01-C5EC-8DAD-F4F1BF0CD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B818C-B406-CF1D-51DC-B2E04D555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AF60D-50E9-0993-03C1-C4EE1060B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A9A26-8F90-A9B7-58D3-C3A9CA1EAC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703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1F5A7-A541-300A-1F24-A26340151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633D75-3FDA-4445-8C5B-77F23074F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8953A-C582-5D8C-353E-E2F0298182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E1D88-728E-A6B2-484C-B3F8EA573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4923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96808-B2AF-E4AE-3550-8F695D75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9D691-9EF1-5EC9-5DCA-A18F43077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FE3AB-E1B3-9739-EB1F-4CEAACB5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FC930-0456-7D5A-5667-F62D0C24B2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46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65E28-9120-0541-E408-8A8D0486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504F6-CAE7-D386-EAAB-384FD90F8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1A4C6F-0729-8B95-E7CA-D90EE5412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25AB-CEE7-598C-8002-5974DBF4C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108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0D90F-A8A8-C6EB-FAA7-9D68F726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191E1-98C1-E2ED-26DC-546423C1E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92794-1B4B-C01E-AA1B-A20223634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5B037-D931-003C-6854-DC530A7280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339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EC77-58BF-C13A-19A4-F7BAFE2B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112A7-32B2-7703-C582-E2E1B3000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7289E-051A-625B-57D3-BB7F35651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8BA92-3CAC-BEE0-FFE2-6260CC630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19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1FA76-752F-4A41-66FD-D25656CA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7AC53A-15B1-0A99-20CC-4B955B778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AD4A34-A08A-579A-AF30-D6E449BCD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097B2-9D10-57E4-A7F1-86C60A0C3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042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55077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Lab Project  4</a:t>
            </a:r>
          </a:p>
        </p:txBody>
      </p:sp>
      <p:sp>
        <p:nvSpPr>
          <p:cNvPr id="4" name="Text 2"/>
          <p:cNvSpPr/>
          <p:nvPr/>
        </p:nvSpPr>
        <p:spPr>
          <a:xfrm>
            <a:off x="1055077" y="1965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vs Parallel Compute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5077" y="2606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5077" y="3094893"/>
            <a:ext cx="283464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5077" y="3094893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March 23, 11:59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5077" y="3826413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14%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Team Roles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19"/>
            <a:ext cx="3886200" cy="3657599"/>
          </a:xfrm>
          <a:prstGeom prst="rect">
            <a:avLst/>
          </a:prstGeom>
          <a:solidFill>
            <a:srgbClr val="1C2E3E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886200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Sama Emad Abu Zahra	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360170"/>
            <a:ext cx="3794760" cy="3223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a, b, c, d + adding parallel and sequential compute to xv6 (Bonus part)</a:t>
            </a:r>
          </a:p>
          <a:p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sequential_compute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parallel_compute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(forking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n_proc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children, distributing ranges via pipes, collecting results via pipes) 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correctness test: run both functions on simple known inputs (like case where N is not divisible by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n_proc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1,2,3,4,5 with add) and verify they produce identical results, including the edge 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slides for: roles, pseudo-code of both functions, simple correctness examples, and the pipe/process figure</a:t>
            </a:r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77640" cy="3657600"/>
          </a:xfrm>
          <a:prstGeom prst="rect">
            <a:avLst/>
          </a:prstGeom>
          <a:solidFill>
            <a:srgbClr val="1C2E3E"/>
          </a:solidFill>
          <a:ln w="19050">
            <a:solidFill>
              <a:srgbClr val="FFB3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77640" cy="5029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960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Yara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 a, e, f, g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two test functions (vary N with fixed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n_proc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vary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n_proc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fixed N), each producing at least 50 readings 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curve smoothing (run each point an odd number of times, take the median)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the Excel file: 2 sheets, each with raw data and a graph </a:t>
            </a:r>
          </a:p>
          <a:p>
            <a:pPr marL="228600" indent="-228600">
              <a:buFont typeface="+mj-lt"/>
              <a:buAutoNum type="arabicPeriod"/>
            </a:pPr>
            <a:endParaRPr lang="en-US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slides for: how the tests are designed and ranges chosen, the smoothing method, and the comparison results with answers to both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sequential_compute — Pseudo-code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137160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 numbers from a file and applies function f pairwise left-to-right. No forking, no pipes — pure sequential fold.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914400"/>
            <a:ext cx="4343400" cy="137160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177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132588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sequential_compute(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char *filepath,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(*f)(int, int)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423160"/>
            <a:ext cx="8503920" cy="2468880"/>
          </a:xfrm>
          <a:prstGeom prst="rect">
            <a:avLst/>
          </a:prstGeom>
          <a:solidFill>
            <a:srgbClr val="111D2A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81381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3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sequential_compute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(filepath, f):
    nums ← </a:t>
            </a:r>
            <a:r>
              <a:rPr lang="en-US" sz="13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read_numbers</a:t>
            </a:r>
            <a:r>
              <a:rPr lang="en-US" sz="130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(filepath)         // parse newline or comma separated
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← nums[0]
</a:t>
            </a: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</a:t>
            </a: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len(nums) - 1 :
        result ← f(result, nums[i])      // fold left
</a:t>
            </a:r>
            <a:r>
              <a:rPr lang="en-US" sz="13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00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B3854-6ADE-1361-C926-BC58365BF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78A43A-06D6-0B79-0B1C-69F93077561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0303AF-3C5C-D3B3-2594-B705F57EB492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Parallel Compute - Description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68B348-F7F1-BA22-450B-F651397AFFD9}"/>
              </a:ext>
            </a:extLst>
          </p:cNvPr>
          <p:cNvSpPr/>
          <p:nvPr/>
        </p:nvSpPr>
        <p:spPr>
          <a:xfrm>
            <a:off x="457200" y="1325880"/>
            <a:ext cx="8015068" cy="3017521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B31F22-1334-30EB-0ED4-0FC625DB0246}"/>
              </a:ext>
            </a:extLst>
          </p:cNvPr>
          <p:cNvSpPr/>
          <p:nvPr/>
        </p:nvSpPr>
        <p:spPr>
          <a:xfrm>
            <a:off x="594360" y="1456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A7DDB5-7839-A085-F6AE-B26DCE933E60}"/>
              </a:ext>
            </a:extLst>
          </p:cNvPr>
          <p:cNvSpPr/>
          <p:nvPr/>
        </p:nvSpPr>
        <p:spPr>
          <a:xfrm>
            <a:off x="1041009" y="2440745"/>
            <a:ext cx="7336302" cy="1515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chemeClr val="bg1"/>
                </a:solidFill>
              </a:rPr>
              <a:t>Takes:</a:t>
            </a:r>
            <a:endParaRPr lang="en-US" sz="1400" dirty="0">
              <a:solidFill>
                <a:schemeClr val="bg1"/>
              </a:solidFill>
            </a:endParaRPr>
          </a:p>
          <a:p>
            <a:pPr marL="285750" indent="-285750" fontAlgn="base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The path of a file containing N numbers separated by new lines (or commas)</a:t>
            </a:r>
          </a:p>
          <a:p>
            <a:pPr marL="285750" indent="-285750" fontAlgn="base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Number of processes </a:t>
            </a:r>
            <a:r>
              <a:rPr lang="en-US" dirty="0" err="1">
                <a:solidFill>
                  <a:schemeClr val="bg1"/>
                </a:solidFill>
              </a:rPr>
              <a:t>n_proc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 fontAlgn="base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 pointer to a function f that takes 2 numbers and returns a number.</a:t>
            </a:r>
          </a:p>
          <a:p>
            <a:pPr fontAlgn="base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then does the same as </a:t>
            </a:r>
            <a:r>
              <a:rPr lang="en-US" dirty="0" err="1">
                <a:solidFill>
                  <a:schemeClr val="bg1"/>
                </a:solidFill>
              </a:rPr>
              <a:t>sequential_compute</a:t>
            </a:r>
            <a:r>
              <a:rPr lang="en-US" dirty="0">
                <a:solidFill>
                  <a:schemeClr val="bg1"/>
                </a:solidFill>
              </a:rPr>
              <a:t> except that it splits the computation over </a:t>
            </a:r>
            <a:r>
              <a:rPr lang="en-US" dirty="0" err="1">
                <a:solidFill>
                  <a:schemeClr val="bg1"/>
                </a:solidFill>
              </a:rPr>
              <a:t>n_proc</a:t>
            </a:r>
            <a:r>
              <a:rPr lang="en-US" dirty="0">
                <a:solidFill>
                  <a:schemeClr val="bg1"/>
                </a:solidFill>
              </a:rPr>
              <a:t> processes as evenly as possible.</a:t>
            </a:r>
            <a:endParaRPr lang="en-US" sz="1400" dirty="0">
              <a:solidFill>
                <a:schemeClr val="bg1"/>
              </a:solidFill>
            </a:endParaRP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00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parallel_compute — Pseudo-code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3977640"/>
          </a:xfrm>
          <a:prstGeom prst="rect">
            <a:avLst/>
          </a:prstGeom>
          <a:solidFill>
            <a:srgbClr val="111D2A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15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parallel_compute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(filepath, n_proc, f):
    nums  ←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read_numbers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(filepath)
    chunk ← len(nums) / n_proc
    remainder ← len(nums) % n_proc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0 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n_proc - 1 :
</a:t>
            </a:r>
            <a:r>
              <a:rPr lang="en-US" sz="115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create ctrl_pipe[i], res_pipe[i]
        fork child i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:
            start, end ←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150" dirty="0">
                <a:solidFill>
                  <a:srgbClr val="8B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(ctrl_pipe[i])      // receive slice bounds
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partial ← sequential_compute(nums[start..end], f)
           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(res_pipe[i], partial) ; exit()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(parent) :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(ctrl_pipe[i], start, end)
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for all children
    result ←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(res_pipe[0])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 TO n_proc-1 : result ← f(result, </a:t>
            </a:r>
            <a:r>
              <a:rPr lang="en-US" sz="11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(res_pipe[i]))
</a:t>
            </a:r>
            <a:r>
              <a:rPr lang="en-US" sz="115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150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Correctness Examples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9144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[1, 2, 3, 4, 5]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Sequential: add(add(add(add(1,2),3),4),5) = 15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819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(n_proc=2):  child 0: [1,2] → 3   |   child 1: [3,4,5] → 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1965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f(3, 12) = 15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286000"/>
            <a:ext cx="850392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9144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 [10, 20, 30]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70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Sequential: multiply(multiply(10,20),30) = 6000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(n_proc=2):  child 0: [10,20] → 200   |   child 1: [30]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1455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f(200, 30) = 6000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9144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[1, 2, 3, 4, 5, 6, 7]  — N not divisible by n_proc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959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Sequential: n_proc=3, chunk=2, remainder=1 = 28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336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 (n_proc=3):  child 0: [1,2]→3  child 1:[3,4]→7  child 2:[5,6,7]→18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714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f(f(3,7),18) = 28 ✓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6D815-5D5E-1326-7230-EB89FB5F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DAEB403-7BDB-A7F5-6719-DDA4B30562F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287DF7-EFF4-ECF7-8D34-6824EB6F75A1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Correctness Examples</a:t>
            </a:r>
            <a:endParaRPr lang="en-US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C03D163-250C-28D4-E96B-45AE195E0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52" y="1021387"/>
            <a:ext cx="7668695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14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4AFA5-8EE0-A028-A439-1A4E2263D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51054D-051B-6A31-9950-11EE85ED869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7FC8DD-39A6-010C-3656-A9FC7AC0BD28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Correctness Examples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9DC7B-A630-46BE-33DE-717EA012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40"/>
          <a:stretch>
            <a:fillRect/>
          </a:stretch>
        </p:blipFill>
        <p:spPr>
          <a:xfrm>
            <a:off x="428046" y="1516482"/>
            <a:ext cx="8287907" cy="24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97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Pipe Architecture in parallel_compute</a:t>
            </a:r>
            <a:endParaRPr lang="en-US" sz="2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6FB33F3-B83D-3436-A0ED-FE1F4AAA8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56" y="1053172"/>
            <a:ext cx="6761488" cy="38371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A21E2-1046-7FA2-8246-CFB94840E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749B1D-256A-76D7-03DF-8AE70DF45CC7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19B8B39-3BA3-DDD2-4BD3-E46BD00C5C82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Notes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CECDBB-F70B-0719-1ABF-CCDF10737BC3}"/>
              </a:ext>
            </a:extLst>
          </p:cNvPr>
          <p:cNvSpPr/>
          <p:nvPr/>
        </p:nvSpPr>
        <p:spPr>
          <a:xfrm>
            <a:off x="320040" y="960120"/>
            <a:ext cx="411480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75E804-C5B3-6913-8EDC-D7F1BF3419FB}"/>
              </a:ext>
            </a:extLst>
          </p:cNvPr>
          <p:cNvSpPr/>
          <p:nvPr/>
        </p:nvSpPr>
        <p:spPr>
          <a:xfrm>
            <a:off x="320040" y="960120"/>
            <a:ext cx="91440" cy="1188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6A80D8-09EA-BAA2-074A-8E0D234D23DD}"/>
              </a:ext>
            </a:extLst>
          </p:cNvPr>
          <p:cNvSpPr/>
          <p:nvPr/>
        </p:nvSpPr>
        <p:spPr>
          <a:xfrm>
            <a:off x="54864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pipes / child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95BF35-3650-20D0-352D-90B7DA8DB593}"/>
              </a:ext>
            </a:extLst>
          </p:cNvPr>
          <p:cNvSpPr/>
          <p:nvPr/>
        </p:nvSpPr>
        <p:spPr>
          <a:xfrm>
            <a:off x="54864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ctrl_pipe sends (start, end) from parent to child.  res_pipe returns the partial result from child to parent.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F6564E5-8804-9B54-173B-A1A4F3B2E014}"/>
              </a:ext>
            </a:extLst>
          </p:cNvPr>
          <p:cNvSpPr/>
          <p:nvPr/>
        </p:nvSpPr>
        <p:spPr>
          <a:xfrm>
            <a:off x="320040" y="2304288"/>
            <a:ext cx="411480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3F91F43-85F9-F5A1-7181-A65D527BCFF4}"/>
              </a:ext>
            </a:extLst>
          </p:cNvPr>
          <p:cNvSpPr/>
          <p:nvPr/>
        </p:nvSpPr>
        <p:spPr>
          <a:xfrm>
            <a:off x="320040" y="2304288"/>
            <a:ext cx="91440" cy="1188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C9B319-AE18-D306-027A-E73F14565469}"/>
              </a:ext>
            </a:extLst>
          </p:cNvPr>
          <p:cNvSpPr/>
          <p:nvPr/>
        </p:nvSpPr>
        <p:spPr>
          <a:xfrm>
            <a:off x="548640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rule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708B523-001B-5DB5-6261-88CFAF183344}"/>
              </a:ext>
            </a:extLst>
          </p:cNvPr>
          <p:cNvSpPr/>
          <p:nvPr/>
        </p:nvSpPr>
        <p:spPr>
          <a:xfrm>
            <a:off x="548640" y="27157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 % n_proc ≠ 0, the extra numbers all go to the last child.  Example: 7 numbers, 3 processes → child 2 gets [5,6,7].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FBCDCE-1A0A-CAD4-AF1F-C15BA78954F2}"/>
              </a:ext>
            </a:extLst>
          </p:cNvPr>
          <p:cNvSpPr/>
          <p:nvPr/>
        </p:nvSpPr>
        <p:spPr>
          <a:xfrm>
            <a:off x="320040" y="3648456"/>
            <a:ext cx="411480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F076498-2024-6A73-764E-22EBCCE98CDC}"/>
              </a:ext>
            </a:extLst>
          </p:cNvPr>
          <p:cNvSpPr/>
          <p:nvPr/>
        </p:nvSpPr>
        <p:spPr>
          <a:xfrm>
            <a:off x="320040" y="3648456"/>
            <a:ext cx="91440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5BD9B0-DEB6-BFF6-2E72-4C627AFCB2F7}"/>
              </a:ext>
            </a:extLst>
          </p:cNvPr>
          <p:cNvSpPr/>
          <p:nvPr/>
        </p:nvSpPr>
        <p:spPr>
          <a:xfrm>
            <a:off x="548640" y="3739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unused ends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AAE4287-19F7-BA19-F50B-37FC84763863}"/>
              </a:ext>
            </a:extLst>
          </p:cNvPr>
          <p:cNvSpPr/>
          <p:nvPr/>
        </p:nvSpPr>
        <p:spPr>
          <a:xfrm>
            <a:off x="548640" y="405993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must close the pipe ends it does not use. 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6125BAA-79F3-17A5-D5D4-15616C80FC26}"/>
              </a:ext>
            </a:extLst>
          </p:cNvPr>
          <p:cNvSpPr/>
          <p:nvPr/>
        </p:nvSpPr>
        <p:spPr>
          <a:xfrm>
            <a:off x="4754880" y="960120"/>
            <a:ext cx="411480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33AA571-3E4E-AA14-61EA-4C49FD9F8483}"/>
              </a:ext>
            </a:extLst>
          </p:cNvPr>
          <p:cNvSpPr/>
          <p:nvPr/>
        </p:nvSpPr>
        <p:spPr>
          <a:xfrm>
            <a:off x="4754880" y="960120"/>
            <a:ext cx="91440" cy="1188720"/>
          </a:xfrm>
          <a:prstGeom prst="rect">
            <a:avLst/>
          </a:prstGeom>
          <a:solidFill>
            <a:srgbClr val="4CAF86"/>
          </a:solidFill>
          <a:ln w="12700">
            <a:solidFill>
              <a:srgbClr val="4CAF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DA09737-9C3C-04FE-E606-49317C631556}"/>
              </a:ext>
            </a:extLst>
          </p:cNvPr>
          <p:cNvSpPr/>
          <p:nvPr/>
        </p:nvSpPr>
        <p:spPr>
          <a:xfrm>
            <a:off x="49834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first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4040AEB-5A59-59F8-4B27-D0EB5CD53344}"/>
              </a:ext>
            </a:extLst>
          </p:cNvPr>
          <p:cNvSpPr/>
          <p:nvPr/>
        </p:nvSpPr>
        <p:spPr>
          <a:xfrm>
            <a:off x="498348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calls wait() for ALL children before reading any result pipe, ensuring partial results are fully written.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65AC162-A8B1-98B4-F6D8-B73490934430}"/>
              </a:ext>
            </a:extLst>
          </p:cNvPr>
          <p:cNvSpPr/>
          <p:nvPr/>
        </p:nvSpPr>
        <p:spPr>
          <a:xfrm>
            <a:off x="4754880" y="2304288"/>
            <a:ext cx="411480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C69E062-F78C-368F-D16D-40A5D424A13B}"/>
              </a:ext>
            </a:extLst>
          </p:cNvPr>
          <p:cNvSpPr/>
          <p:nvPr/>
        </p:nvSpPr>
        <p:spPr>
          <a:xfrm>
            <a:off x="4754880" y="2304288"/>
            <a:ext cx="91440" cy="11887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4A5C60D-DD51-DCD7-812E-BBD11F3ADF1C}"/>
              </a:ext>
            </a:extLst>
          </p:cNvPr>
          <p:cNvSpPr/>
          <p:nvPr/>
        </p:nvSpPr>
        <p:spPr>
          <a:xfrm>
            <a:off x="4983480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generic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186A01F-AF4E-019B-DEE7-2DCA20D58BF3}"/>
              </a:ext>
            </a:extLst>
          </p:cNvPr>
          <p:cNvSpPr/>
          <p:nvPr/>
        </p:nvSpPr>
        <p:spPr>
          <a:xfrm>
            <a:off x="4983480" y="271576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aggregates partial results using f, not +.  Works correctly for add, multiply, max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C8755F9-BDA3-42EA-4E22-AEA3816A8CB4}"/>
              </a:ext>
            </a:extLst>
          </p:cNvPr>
          <p:cNvSpPr/>
          <p:nvPr/>
        </p:nvSpPr>
        <p:spPr>
          <a:xfrm>
            <a:off x="4754880" y="3648456"/>
            <a:ext cx="4114800" cy="1188720"/>
          </a:xfrm>
          <a:prstGeom prst="rect">
            <a:avLst/>
          </a:prstGeom>
          <a:solidFill>
            <a:srgbClr val="1C2E3E"/>
          </a:solidFill>
          <a:ln w="12700">
            <a:solidFill>
              <a:srgbClr val="3D5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15FE3D2-75FB-EEE3-D516-C15D61F1771D}"/>
              </a:ext>
            </a:extLst>
          </p:cNvPr>
          <p:cNvSpPr/>
          <p:nvPr/>
        </p:nvSpPr>
        <p:spPr>
          <a:xfrm>
            <a:off x="4754880" y="3648456"/>
            <a:ext cx="91440" cy="1188720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780ED96-12DA-C07A-6C89-B64CEF4C64C3}"/>
              </a:ext>
            </a:extLst>
          </p:cNvPr>
          <p:cNvSpPr/>
          <p:nvPr/>
        </p:nvSpPr>
        <p:spPr>
          <a:xfrm>
            <a:off x="4983480" y="37398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312E6A5-4CFE-6F2C-D265-8DD7618BCA90}"/>
              </a:ext>
            </a:extLst>
          </p:cNvPr>
          <p:cNvSpPr/>
          <p:nvPr/>
        </p:nvSpPr>
        <p:spPr>
          <a:xfrm>
            <a:off x="4983480" y="405993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handles both newline-separated and comma-separated numbers using strtok with delimiters ",\n\r ".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13392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Deploying Sequential &amp; Parallel Compute on xv6</a:t>
            </a:r>
            <a:endParaRPr lang="en-US" sz="2600" b="1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DA032EC-68A5-FE7D-1924-9B661702C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93" y="1099410"/>
            <a:ext cx="5945813" cy="36203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9C803-E2F2-4305-8B3C-5D30DC9E0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AA13B1-8D50-83E4-7F6E-9244BCC1740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FE2C97-2E76-F8BB-D977-02C9BBA6AA6C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Deploying Sequential &amp; Parallel Compute on xv6</a:t>
            </a:r>
            <a:endParaRPr lang="en-US" sz="26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C9F79-ECB5-ECAD-0AE8-04181925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590"/>
          <a:stretch>
            <a:fillRect/>
          </a:stretch>
        </p:blipFill>
        <p:spPr>
          <a:xfrm>
            <a:off x="1507658" y="1169884"/>
            <a:ext cx="6128684" cy="344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3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76311-9DB7-2FB1-8A44-4953FB85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CC57BE-9656-C485-58A0-EDB4416757C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835CAC-E53B-EC74-3EA6-D53A1DCDF48E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Deploying Sequential &amp; Parallel Compute on xv6</a:t>
            </a:r>
            <a:endParaRPr lang="en-US" sz="26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905D84-10E3-BC12-8D98-E7700B465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06" y="2520607"/>
            <a:ext cx="7731188" cy="1227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9DA160-5AF7-CC00-FC36-940086BE0676}"/>
              </a:ext>
            </a:extLst>
          </p:cNvPr>
          <p:cNvSpPr txBox="1"/>
          <p:nvPr/>
        </p:nvSpPr>
        <p:spPr>
          <a:xfrm>
            <a:off x="706406" y="1475291"/>
            <a:ext cx="45790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8251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334C7-78AC-D6A1-6B86-05C3641B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CB115F0-F90C-7DD0-3B03-5AADE8A8BFB5}"/>
              </a:ext>
            </a:extLst>
          </p:cNvPr>
          <p:cNvSpPr/>
          <p:nvPr/>
        </p:nvSpPr>
        <p:spPr>
          <a:xfrm>
            <a:off x="0" y="2163536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339E7A-F17F-17D8-ABDE-5D9C86FC5E04}"/>
              </a:ext>
            </a:extLst>
          </p:cNvPr>
          <p:cNvSpPr/>
          <p:nvPr/>
        </p:nvSpPr>
        <p:spPr>
          <a:xfrm>
            <a:off x="316775" y="2197009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Tests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05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59805-ED48-DB27-3F3A-EBDC7779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27233C-9DA5-E073-41A7-C7DB1A65A73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269DBF-390E-B4A4-ADE6-C1226B14A2FF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Design and Chosen Ranges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03A90-C91D-5CD2-99BA-B1E35AAF18FD}"/>
              </a:ext>
            </a:extLst>
          </p:cNvPr>
          <p:cNvSpPr txBox="1"/>
          <p:nvPr/>
        </p:nvSpPr>
        <p:spPr>
          <a:xfrm>
            <a:off x="419450" y="1027651"/>
            <a:ext cx="42658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1:</a:t>
            </a:r>
          </a:p>
          <a:p>
            <a:r>
              <a:rPr lang="en-US" dirty="0"/>
              <a:t>The number of processes fixed for the test was </a:t>
            </a:r>
            <a:r>
              <a:rPr lang="en-US" dirty="0">
                <a:solidFill>
                  <a:srgbClr val="00B050"/>
                </a:solidFill>
              </a:rPr>
              <a:t>9</a:t>
            </a:r>
            <a:r>
              <a:rPr lang="en-US" dirty="0"/>
              <a:t> as this was the number of idle processes at the time of testing.</a:t>
            </a:r>
          </a:p>
          <a:p>
            <a:r>
              <a:rPr lang="en-US" dirty="0">
                <a:solidFill>
                  <a:srgbClr val="00B050"/>
                </a:solidFill>
              </a:rPr>
              <a:t>100</a:t>
            </a:r>
            <a:r>
              <a:rPr lang="en-US" dirty="0"/>
              <a:t> Readings were conducted going by increments of </a:t>
            </a:r>
            <a:r>
              <a:rPr lang="en-US" dirty="0">
                <a:solidFill>
                  <a:srgbClr val="00B050"/>
                </a:solidFill>
              </a:rPr>
              <a:t>20,000 </a:t>
            </a:r>
            <a:r>
              <a:rPr lang="en-US" dirty="0"/>
              <a:t>for </a:t>
            </a:r>
            <a:r>
              <a:rPr lang="en-US" dirty="0">
                <a:solidFill>
                  <a:srgbClr val="00B050"/>
                </a:solidFill>
              </a:rPr>
              <a:t>N</a:t>
            </a:r>
            <a:r>
              <a:rPr lang="en-US" dirty="0"/>
              <a:t>. (Range: </a:t>
            </a:r>
            <a:r>
              <a:rPr lang="en-US" dirty="0">
                <a:solidFill>
                  <a:srgbClr val="00B050"/>
                </a:solidFill>
              </a:rPr>
              <a:t>20k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2M</a:t>
            </a:r>
            <a:r>
              <a:rPr lang="en-US" dirty="0"/>
              <a:t>)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b="1" dirty="0"/>
              <a:t>Test 2:</a:t>
            </a:r>
          </a:p>
          <a:p>
            <a:r>
              <a:rPr lang="en-US" dirty="0"/>
              <a:t>The parameter </a:t>
            </a:r>
            <a:r>
              <a:rPr lang="en-US" dirty="0" err="1">
                <a:solidFill>
                  <a:srgbClr val="00B050"/>
                </a:solidFill>
              </a:rPr>
              <a:t>n_proc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was iterated from </a:t>
            </a:r>
            <a:r>
              <a:rPr lang="en-US" dirty="0">
                <a:solidFill>
                  <a:srgbClr val="00B050"/>
                </a:solidFill>
              </a:rPr>
              <a:t>1</a:t>
            </a:r>
            <a:r>
              <a:rPr lang="en-US" dirty="0"/>
              <a:t> to </a:t>
            </a:r>
            <a:r>
              <a:rPr lang="en-US" dirty="0">
                <a:solidFill>
                  <a:srgbClr val="00B050"/>
                </a:solidFill>
              </a:rPr>
              <a:t>24</a:t>
            </a:r>
            <a:r>
              <a:rPr lang="en-US" dirty="0"/>
              <a:t> to significantly exceed the number of logical processors of the machine which is </a:t>
            </a:r>
            <a:r>
              <a:rPr lang="en-US" dirty="0">
                <a:solidFill>
                  <a:srgbClr val="00B050"/>
                </a:solidFill>
              </a:rPr>
              <a:t>16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4B09E5-46C6-EF88-FD44-9F9843DE22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81" t="6474" b="8932"/>
          <a:stretch>
            <a:fillRect/>
          </a:stretch>
        </p:blipFill>
        <p:spPr>
          <a:xfrm>
            <a:off x="5777671" y="885040"/>
            <a:ext cx="3199411" cy="22524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F8CAA4-0BB7-E523-064F-D59C10526090}"/>
              </a:ext>
            </a:extLst>
          </p:cNvPr>
          <p:cNvSpPr txBox="1"/>
          <p:nvPr/>
        </p:nvSpPr>
        <p:spPr>
          <a:xfrm>
            <a:off x="5777671" y="3245284"/>
            <a:ext cx="30829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Note: For test 1, the range kept adjusting till reaching this range that showed a clear winner between the 2 functions.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FCA52E-3B11-5AA2-4409-DA1D68250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670" y="4199391"/>
            <a:ext cx="3082955" cy="51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906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294C2-C145-A10C-63B9-C0F5A0C5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8D7D0A-3B9A-501A-CF0E-825216CCCED6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90B563-796D-A3B3-4B51-2BE9262A219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Techniques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4E455-ADF0-D2A1-27C5-97F201EA1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09" y="3846063"/>
            <a:ext cx="3619526" cy="304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871855-2C7F-4EBE-AB7C-AA13AD6CA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910" y="2008673"/>
            <a:ext cx="3493379" cy="594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124B31-5519-0B8A-6BD3-F8F660B9D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9496" y="3112195"/>
            <a:ext cx="4620199" cy="10987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153B54-E528-805F-5D07-EAA828F4B2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009" y="4363368"/>
            <a:ext cx="2321183" cy="3048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FDEF69-BA27-C262-86B2-681849B8BE6E}"/>
              </a:ext>
            </a:extLst>
          </p:cNvPr>
          <p:cNvSpPr txBox="1"/>
          <p:nvPr/>
        </p:nvSpPr>
        <p:spPr>
          <a:xfrm>
            <a:off x="245921" y="992635"/>
            <a:ext cx="4472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Smoothing was done by repeating the experiment an odd number of times for each N/</a:t>
            </a:r>
            <a:r>
              <a:rPr lang="en-US" dirty="0" err="1"/>
              <a:t>n_proc</a:t>
            </a:r>
            <a:r>
              <a:rPr lang="en-US" dirty="0"/>
              <a:t>, then taking the </a:t>
            </a:r>
            <a:r>
              <a:rPr lang="en-US" dirty="0">
                <a:solidFill>
                  <a:srgbClr val="00B050"/>
                </a:solidFill>
              </a:rPr>
              <a:t>median</a:t>
            </a:r>
            <a:r>
              <a:rPr lang="en-US" dirty="0"/>
              <a:t> value by sorting.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306F30-D9F7-8FC7-6D11-D8F18B4A1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3515" y="1058693"/>
            <a:ext cx="3619527" cy="6696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EF1FEC-0012-C5DB-BE41-42B36B74F72B}"/>
              </a:ext>
            </a:extLst>
          </p:cNvPr>
          <p:cNvSpPr txBox="1"/>
          <p:nvPr/>
        </p:nvSpPr>
        <p:spPr>
          <a:xfrm>
            <a:off x="260970" y="2265027"/>
            <a:ext cx="30955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experiment was repeated </a:t>
            </a:r>
            <a:r>
              <a:rPr lang="en-US" dirty="0">
                <a:solidFill>
                  <a:srgbClr val="00B050"/>
                </a:solidFill>
              </a:rPr>
              <a:t>7</a:t>
            </a:r>
            <a:r>
              <a:rPr lang="en-US" dirty="0"/>
              <a:t> times for each </a:t>
            </a:r>
            <a:r>
              <a:rPr lang="en-US" dirty="0">
                <a:solidFill>
                  <a:srgbClr val="00B050"/>
                </a:solidFill>
              </a:rPr>
              <a:t>N</a:t>
            </a:r>
            <a:r>
              <a:rPr lang="en-US" dirty="0"/>
              <a:t> in </a:t>
            </a:r>
            <a:r>
              <a:rPr lang="en-US" u="sng" dirty="0"/>
              <a:t>test 1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23</a:t>
            </a:r>
            <a:r>
              <a:rPr lang="en-US" dirty="0"/>
              <a:t> times for each </a:t>
            </a:r>
            <a:r>
              <a:rPr lang="en-US" dirty="0" err="1">
                <a:solidFill>
                  <a:srgbClr val="00B050"/>
                </a:solidFill>
              </a:rPr>
              <a:t>n_proc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in </a:t>
            </a:r>
            <a:r>
              <a:rPr lang="en-US" u="sng" dirty="0"/>
              <a:t>test 2</a:t>
            </a:r>
            <a:r>
              <a:rPr lang="en-US" dirty="0"/>
              <a:t> as it had a relatively small number of iterations.</a:t>
            </a:r>
          </a:p>
        </p:txBody>
      </p:sp>
    </p:spTree>
    <p:extLst>
      <p:ext uri="{BB962C8B-B14F-4D97-AF65-F5344CB8AC3E}">
        <p14:creationId xmlns:p14="http://schemas.microsoft.com/office/powerpoint/2010/main" val="342958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CC0B-31F5-A0B9-CCA3-FFAEE259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013C8F-728B-C367-E451-D743E8E3385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F80BE0-3437-EEAA-A5DD-1A994ACF8286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Answers (Test 1)</a:t>
            </a:r>
            <a:endParaRPr lang="en-US" sz="2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1A4C7CA-A120-30D7-79ED-B8879F9E68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090802"/>
              </p:ext>
            </p:extLst>
          </p:nvPr>
        </p:nvGraphicFramePr>
        <p:xfrm>
          <a:off x="4756980" y="979328"/>
          <a:ext cx="4021260" cy="2795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8F6A4A-6586-484F-3404-82620BA489AE}"/>
              </a:ext>
            </a:extLst>
          </p:cNvPr>
          <p:cNvSpPr txBox="1"/>
          <p:nvPr/>
        </p:nvSpPr>
        <p:spPr>
          <a:xfrm>
            <a:off x="178690" y="1160360"/>
            <a:ext cx="4578290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273540"/>
                </a:solidFill>
                <a:effectLst/>
                <a:latin typeface="Lato Extended"/>
              </a:rPr>
              <a:t>Question: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If we fix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n_proc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, then at which value of N does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parallel_compute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outperform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sequential_compute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?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dirty="0">
                <a:solidFill>
                  <a:srgbClr val="273540"/>
                </a:solidFill>
                <a:latin typeface="Lato Extended"/>
              </a:rPr>
              <a:t>Answer: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It starts </a:t>
            </a:r>
            <a:r>
              <a:rPr lang="en-US" i="1" dirty="0">
                <a:solidFill>
                  <a:srgbClr val="273540"/>
                </a:solidFill>
                <a:latin typeface="Lato Extended"/>
              </a:rPr>
              <a:t>consistently 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outperforming at N = </a:t>
            </a:r>
            <a:r>
              <a:rPr lang="en-US" dirty="0">
                <a:solidFill>
                  <a:srgbClr val="00B050"/>
                </a:solidFill>
                <a:latin typeface="Lato Extended"/>
              </a:rPr>
              <a:t>680,000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.</a:t>
            </a:r>
            <a:endParaRPr lang="en-US" b="0" i="0" dirty="0">
              <a:solidFill>
                <a:srgbClr val="273540"/>
              </a:solidFill>
              <a:effectLst/>
              <a:latin typeface="Lato Extended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20FC1-56C3-64AE-BB91-9D708BED2264}"/>
              </a:ext>
            </a:extLst>
          </p:cNvPr>
          <p:cNvSpPr txBox="1"/>
          <p:nvPr/>
        </p:nvSpPr>
        <p:spPr>
          <a:xfrm>
            <a:off x="365760" y="3102671"/>
            <a:ext cx="3082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parallel_compute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starts outperforming at large values of N</a:t>
            </a:r>
          </a:p>
        </p:txBody>
      </p:sp>
    </p:spTree>
    <p:extLst>
      <p:ext uri="{BB962C8B-B14F-4D97-AF65-F5344CB8AC3E}">
        <p14:creationId xmlns:p14="http://schemas.microsoft.com/office/powerpoint/2010/main" val="1851093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B153-CB4F-2DC1-4C4F-8603CC7E0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885F72-F7A5-9475-95C5-2D754324601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BC26B48-2911-5A21-1EDA-A1A90F03456E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Answers (Test 2)</a:t>
            </a:r>
            <a:endParaRPr lang="en-US" sz="2400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A40FE1F-C2E9-2977-9479-7D5172A62DD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B4FCC26-0227-B1D4-8EBE-D6CF080F430B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Answers (Test 2)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2E74A-FCF0-6C62-DFDC-B504535CF19A}"/>
              </a:ext>
            </a:extLst>
          </p:cNvPr>
          <p:cNvSpPr txBox="1"/>
          <p:nvPr/>
        </p:nvSpPr>
        <p:spPr>
          <a:xfrm>
            <a:off x="178690" y="1160360"/>
            <a:ext cx="4363949" cy="2654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273540"/>
                </a:solidFill>
                <a:effectLst/>
                <a:latin typeface="Lato Extended"/>
              </a:rPr>
              <a:t>Question: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If we fix N to a large number, then at which value of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n_proc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does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parallel_compute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 outperform </a:t>
            </a:r>
            <a:r>
              <a:rPr lang="en-US" b="0" i="0" dirty="0" err="1">
                <a:solidFill>
                  <a:srgbClr val="273540"/>
                </a:solidFill>
                <a:effectLst/>
                <a:latin typeface="Lato Extended"/>
              </a:rPr>
              <a:t>sequential_compute</a:t>
            </a:r>
            <a:r>
              <a:rPr lang="en-US" b="0" i="0" dirty="0">
                <a:solidFill>
                  <a:srgbClr val="273540"/>
                </a:solidFill>
                <a:effectLst/>
                <a:latin typeface="Lato Extended"/>
              </a:rPr>
              <a:t>?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dirty="0">
                <a:solidFill>
                  <a:srgbClr val="273540"/>
                </a:solidFill>
                <a:latin typeface="Lato Extended"/>
              </a:rPr>
              <a:t>Answer: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It starts outperforming at </a:t>
            </a:r>
            <a:r>
              <a:rPr lang="en-US" dirty="0" err="1">
                <a:solidFill>
                  <a:srgbClr val="273540"/>
                </a:solidFill>
                <a:latin typeface="Lato Extended"/>
              </a:rPr>
              <a:t>n_proc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 = </a:t>
            </a:r>
            <a:r>
              <a:rPr lang="en-US" dirty="0">
                <a:solidFill>
                  <a:srgbClr val="00B050"/>
                </a:solidFill>
                <a:latin typeface="Lato Extended"/>
              </a:rPr>
              <a:t>6</a:t>
            </a:r>
            <a:r>
              <a:rPr lang="en-US" dirty="0">
                <a:solidFill>
                  <a:srgbClr val="273540"/>
                </a:solidFill>
                <a:latin typeface="Lato Extended"/>
              </a:rPr>
              <a:t>.</a:t>
            </a:r>
            <a:endParaRPr lang="en-US" b="0" i="0" dirty="0">
              <a:solidFill>
                <a:srgbClr val="273540"/>
              </a:solidFill>
              <a:effectLst/>
              <a:latin typeface="Lato Extended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D1C3888B-5565-FCF8-6E65-EB24D7FEC6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4773173"/>
              </p:ext>
            </p:extLst>
          </p:nvPr>
        </p:nvGraphicFramePr>
        <p:xfrm>
          <a:off x="4756980" y="979742"/>
          <a:ext cx="4202884" cy="2654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CCD450-6E67-E17A-35C2-1ABEC6C4026A}"/>
              </a:ext>
            </a:extLst>
          </p:cNvPr>
          <p:cNvSpPr txBox="1"/>
          <p:nvPr/>
        </p:nvSpPr>
        <p:spPr>
          <a:xfrm>
            <a:off x="404523" y="3337879"/>
            <a:ext cx="30829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Note: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parallel_compute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outperforms as long using extra processors compensate the fork and pipe operations overhead, but starts underperforming when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n_proc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exceeds idle processors</a:t>
            </a:r>
          </a:p>
        </p:txBody>
      </p:sp>
    </p:spTree>
    <p:extLst>
      <p:ext uri="{BB962C8B-B14F-4D97-AF65-F5344CB8AC3E}">
        <p14:creationId xmlns:p14="http://schemas.microsoft.com/office/powerpoint/2010/main" val="33646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5E801-8FC1-B9B0-4BFD-703B4B0B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103D2B-2620-6CF7-5D47-413B0E41B312}"/>
              </a:ext>
            </a:extLst>
          </p:cNvPr>
          <p:cNvSpPr/>
          <p:nvPr/>
        </p:nvSpPr>
        <p:spPr>
          <a:xfrm>
            <a:off x="0" y="2163536"/>
            <a:ext cx="914400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16A0F1E-24E5-ACDB-A429-10155964A61B}"/>
              </a:ext>
            </a:extLst>
          </p:cNvPr>
          <p:cNvSpPr/>
          <p:nvPr/>
        </p:nvSpPr>
        <p:spPr>
          <a:xfrm>
            <a:off x="316775" y="2197009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91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1353</Words>
  <Application>Microsoft Office PowerPoint</Application>
  <PresentationFormat>On-screen Show (16:9)</PresentationFormat>
  <Paragraphs>122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Consolas</vt:lpstr>
      <vt:lpstr>Lato Extended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samaemad</cp:lastModifiedBy>
  <cp:revision>9</cp:revision>
  <dcterms:created xsi:type="dcterms:W3CDTF">2026-03-22T10:45:08Z</dcterms:created>
  <dcterms:modified xsi:type="dcterms:W3CDTF">2026-03-30T17:03:16Z</dcterms:modified>
</cp:coreProperties>
</file>