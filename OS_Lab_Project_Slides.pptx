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8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73" r:id="rId5"/>
    <p:sldId id="259" r:id="rId6"/>
    <p:sldId id="260" r:id="rId7"/>
    <p:sldId id="263" r:id="rId8"/>
    <p:sldId id="264" r:id="rId9"/>
    <p:sldId id="261" r:id="rId10"/>
    <p:sldId id="274" r:id="rId11"/>
    <p:sldId id="262" r:id="rId12"/>
    <p:sldId id="275" r:id="rId13"/>
    <p:sldId id="276" r:id="rId14"/>
    <p:sldId id="270" r:id="rId15"/>
    <p:sldId id="271" r:id="rId16"/>
    <p:sldId id="267" r:id="rId17"/>
    <p:sldId id="268" r:id="rId18"/>
    <p:sldId id="269" r:id="rId19"/>
    <p:sldId id="279" r:id="rId20"/>
    <p:sldId id="277" r:id="rId21"/>
    <p:sldId id="278" r:id="rId22"/>
    <p:sldId id="280" r:id="rId23"/>
    <p:sldId id="272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Yara\Downloads\Project%204%20Result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Fixed n_proc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'Exp 1'!$B$1</c:f>
              <c:strCache>
                <c:ptCount val="1"/>
                <c:pt idx="0">
                  <c:v>Sequential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'Exp 1'!$A$1:$A$101</c:f>
              <c:strCache>
                <c:ptCount val="101"/>
                <c:pt idx="0">
                  <c:v>N</c:v>
                </c:pt>
                <c:pt idx="1">
                  <c:v>20000</c:v>
                </c:pt>
                <c:pt idx="2">
                  <c:v>40000</c:v>
                </c:pt>
                <c:pt idx="3">
                  <c:v>60000</c:v>
                </c:pt>
                <c:pt idx="4">
                  <c:v>80000</c:v>
                </c:pt>
                <c:pt idx="5">
                  <c:v>100000</c:v>
                </c:pt>
                <c:pt idx="6">
                  <c:v>120000</c:v>
                </c:pt>
                <c:pt idx="7">
                  <c:v>140000</c:v>
                </c:pt>
                <c:pt idx="8">
                  <c:v>160000</c:v>
                </c:pt>
                <c:pt idx="9">
                  <c:v>180000</c:v>
                </c:pt>
                <c:pt idx="10">
                  <c:v>200000</c:v>
                </c:pt>
                <c:pt idx="11">
                  <c:v>220000</c:v>
                </c:pt>
                <c:pt idx="12">
                  <c:v>240000</c:v>
                </c:pt>
                <c:pt idx="13">
                  <c:v>260000</c:v>
                </c:pt>
                <c:pt idx="14">
                  <c:v>280000</c:v>
                </c:pt>
                <c:pt idx="15">
                  <c:v>300000</c:v>
                </c:pt>
                <c:pt idx="16">
                  <c:v>320000</c:v>
                </c:pt>
                <c:pt idx="17">
                  <c:v>340000</c:v>
                </c:pt>
                <c:pt idx="18">
                  <c:v>360000</c:v>
                </c:pt>
                <c:pt idx="19">
                  <c:v>380000</c:v>
                </c:pt>
                <c:pt idx="20">
                  <c:v>400000</c:v>
                </c:pt>
                <c:pt idx="21">
                  <c:v>420000</c:v>
                </c:pt>
                <c:pt idx="22">
                  <c:v>440000</c:v>
                </c:pt>
                <c:pt idx="23">
                  <c:v>460000</c:v>
                </c:pt>
                <c:pt idx="24">
                  <c:v>480000</c:v>
                </c:pt>
                <c:pt idx="25">
                  <c:v>500000</c:v>
                </c:pt>
                <c:pt idx="26">
                  <c:v>520000</c:v>
                </c:pt>
                <c:pt idx="27">
                  <c:v>540000</c:v>
                </c:pt>
                <c:pt idx="28">
                  <c:v>560000</c:v>
                </c:pt>
                <c:pt idx="29">
                  <c:v>580000</c:v>
                </c:pt>
                <c:pt idx="30">
                  <c:v>600000</c:v>
                </c:pt>
                <c:pt idx="31">
                  <c:v>620000</c:v>
                </c:pt>
                <c:pt idx="32">
                  <c:v>640000</c:v>
                </c:pt>
                <c:pt idx="33">
                  <c:v>660000</c:v>
                </c:pt>
                <c:pt idx="34">
                  <c:v>680000</c:v>
                </c:pt>
                <c:pt idx="35">
                  <c:v>700000</c:v>
                </c:pt>
                <c:pt idx="36">
                  <c:v>720000</c:v>
                </c:pt>
                <c:pt idx="37">
                  <c:v>740000</c:v>
                </c:pt>
                <c:pt idx="38">
                  <c:v>760000</c:v>
                </c:pt>
                <c:pt idx="39">
                  <c:v>780000</c:v>
                </c:pt>
                <c:pt idx="40">
                  <c:v>800000</c:v>
                </c:pt>
                <c:pt idx="41">
                  <c:v>820000</c:v>
                </c:pt>
                <c:pt idx="42">
                  <c:v>840000</c:v>
                </c:pt>
                <c:pt idx="43">
                  <c:v>860000</c:v>
                </c:pt>
                <c:pt idx="44">
                  <c:v>880000</c:v>
                </c:pt>
                <c:pt idx="45">
                  <c:v>900000</c:v>
                </c:pt>
                <c:pt idx="46">
                  <c:v>920000</c:v>
                </c:pt>
                <c:pt idx="47">
                  <c:v>940000</c:v>
                </c:pt>
                <c:pt idx="48">
                  <c:v>960000</c:v>
                </c:pt>
                <c:pt idx="49">
                  <c:v>980000</c:v>
                </c:pt>
                <c:pt idx="50">
                  <c:v>1000000</c:v>
                </c:pt>
                <c:pt idx="51">
                  <c:v>1020000</c:v>
                </c:pt>
                <c:pt idx="52">
                  <c:v>1040000</c:v>
                </c:pt>
                <c:pt idx="53">
                  <c:v>1060000</c:v>
                </c:pt>
                <c:pt idx="54">
                  <c:v>1080000</c:v>
                </c:pt>
                <c:pt idx="55">
                  <c:v>1100000</c:v>
                </c:pt>
                <c:pt idx="56">
                  <c:v>1120000</c:v>
                </c:pt>
                <c:pt idx="57">
                  <c:v>1140000</c:v>
                </c:pt>
                <c:pt idx="58">
                  <c:v>1160000</c:v>
                </c:pt>
                <c:pt idx="59">
                  <c:v>1180000</c:v>
                </c:pt>
                <c:pt idx="60">
                  <c:v>1200000</c:v>
                </c:pt>
                <c:pt idx="61">
                  <c:v>1220000</c:v>
                </c:pt>
                <c:pt idx="62">
                  <c:v>1240000</c:v>
                </c:pt>
                <c:pt idx="63">
                  <c:v>1260000</c:v>
                </c:pt>
                <c:pt idx="64">
                  <c:v>1280000</c:v>
                </c:pt>
                <c:pt idx="65">
                  <c:v>1300000</c:v>
                </c:pt>
                <c:pt idx="66">
                  <c:v>1320000</c:v>
                </c:pt>
                <c:pt idx="67">
                  <c:v>1340000</c:v>
                </c:pt>
                <c:pt idx="68">
                  <c:v>1360000</c:v>
                </c:pt>
                <c:pt idx="69">
                  <c:v>1380000</c:v>
                </c:pt>
                <c:pt idx="70">
                  <c:v>1400000</c:v>
                </c:pt>
                <c:pt idx="71">
                  <c:v>1420000</c:v>
                </c:pt>
                <c:pt idx="72">
                  <c:v>1440000</c:v>
                </c:pt>
                <c:pt idx="73">
                  <c:v>1460000</c:v>
                </c:pt>
                <c:pt idx="74">
                  <c:v>1480000</c:v>
                </c:pt>
                <c:pt idx="75">
                  <c:v>1500000</c:v>
                </c:pt>
                <c:pt idx="76">
                  <c:v>1520000</c:v>
                </c:pt>
                <c:pt idx="77">
                  <c:v>1540000</c:v>
                </c:pt>
                <c:pt idx="78">
                  <c:v>1560000</c:v>
                </c:pt>
                <c:pt idx="79">
                  <c:v>1580000</c:v>
                </c:pt>
                <c:pt idx="80">
                  <c:v>1600000</c:v>
                </c:pt>
                <c:pt idx="81">
                  <c:v>1620000</c:v>
                </c:pt>
                <c:pt idx="82">
                  <c:v>1640000</c:v>
                </c:pt>
                <c:pt idx="83">
                  <c:v>1660000</c:v>
                </c:pt>
                <c:pt idx="84">
                  <c:v>1680000</c:v>
                </c:pt>
                <c:pt idx="85">
                  <c:v>1700000</c:v>
                </c:pt>
                <c:pt idx="86">
                  <c:v>1720000</c:v>
                </c:pt>
                <c:pt idx="87">
                  <c:v>1740000</c:v>
                </c:pt>
                <c:pt idx="88">
                  <c:v>1760000</c:v>
                </c:pt>
                <c:pt idx="89">
                  <c:v>1780000</c:v>
                </c:pt>
                <c:pt idx="90">
                  <c:v>1800000</c:v>
                </c:pt>
                <c:pt idx="91">
                  <c:v>1820000</c:v>
                </c:pt>
                <c:pt idx="92">
                  <c:v>1840000</c:v>
                </c:pt>
                <c:pt idx="93">
                  <c:v>1860000</c:v>
                </c:pt>
                <c:pt idx="94">
                  <c:v>1880000</c:v>
                </c:pt>
                <c:pt idx="95">
                  <c:v>1900000</c:v>
                </c:pt>
                <c:pt idx="96">
                  <c:v>1920000</c:v>
                </c:pt>
                <c:pt idx="97">
                  <c:v>1940000</c:v>
                </c:pt>
                <c:pt idx="98">
                  <c:v>1960000</c:v>
                </c:pt>
                <c:pt idx="99">
                  <c:v>1980000</c:v>
                </c:pt>
                <c:pt idx="100">
                  <c:v>2000000</c:v>
                </c:pt>
              </c:strCache>
            </c:strRef>
          </c:cat>
          <c:val>
            <c:numRef>
              <c:f>'Exp 1'!$B$2:$B$101</c:f>
              <c:numCache>
                <c:formatCode>General</c:formatCode>
                <c:ptCount val="100"/>
                <c:pt idx="0">
                  <c:v>1.5380000000000001E-3</c:v>
                </c:pt>
                <c:pt idx="1">
                  <c:v>4.1349999999999998E-3</c:v>
                </c:pt>
                <c:pt idx="2">
                  <c:v>5.2570000000000004E-3</c:v>
                </c:pt>
                <c:pt idx="3">
                  <c:v>8.4950000000000008E-3</c:v>
                </c:pt>
                <c:pt idx="4">
                  <c:v>8.1919999999999996E-3</c:v>
                </c:pt>
                <c:pt idx="5">
                  <c:v>1.0515E-2</c:v>
                </c:pt>
                <c:pt idx="6">
                  <c:v>1.1103E-2</c:v>
                </c:pt>
                <c:pt idx="7">
                  <c:v>1.2952999999999999E-2</c:v>
                </c:pt>
                <c:pt idx="8">
                  <c:v>1.4134000000000001E-2</c:v>
                </c:pt>
                <c:pt idx="9">
                  <c:v>9.6259999999999991E-3</c:v>
                </c:pt>
                <c:pt idx="10">
                  <c:v>1.6192000000000002E-2</c:v>
                </c:pt>
                <c:pt idx="11">
                  <c:v>1.1297E-2</c:v>
                </c:pt>
                <c:pt idx="12">
                  <c:v>1.3946999999999999E-2</c:v>
                </c:pt>
                <c:pt idx="13">
                  <c:v>1.3745E-2</c:v>
                </c:pt>
                <c:pt idx="14">
                  <c:v>2.1132000000000001E-2</c:v>
                </c:pt>
                <c:pt idx="15">
                  <c:v>1.8235000000000001E-2</c:v>
                </c:pt>
                <c:pt idx="16">
                  <c:v>2.0421000000000002E-2</c:v>
                </c:pt>
                <c:pt idx="17">
                  <c:v>2.0794E-2</c:v>
                </c:pt>
                <c:pt idx="18">
                  <c:v>2.4121E-2</c:v>
                </c:pt>
                <c:pt idx="19">
                  <c:v>2.2719E-2</c:v>
                </c:pt>
                <c:pt idx="20">
                  <c:v>2.104E-2</c:v>
                </c:pt>
                <c:pt idx="21">
                  <c:v>2.4899999999999999E-2</c:v>
                </c:pt>
                <c:pt idx="22">
                  <c:v>2.1887E-2</c:v>
                </c:pt>
                <c:pt idx="23">
                  <c:v>2.7830000000000001E-2</c:v>
                </c:pt>
                <c:pt idx="24">
                  <c:v>2.5758E-2</c:v>
                </c:pt>
                <c:pt idx="25">
                  <c:v>3.5181999999999998E-2</c:v>
                </c:pt>
                <c:pt idx="26">
                  <c:v>2.9513999999999999E-2</c:v>
                </c:pt>
                <c:pt idx="27">
                  <c:v>2.6960999999999999E-2</c:v>
                </c:pt>
                <c:pt idx="28">
                  <c:v>3.7498999999999998E-2</c:v>
                </c:pt>
                <c:pt idx="29">
                  <c:v>3.2828000000000003E-2</c:v>
                </c:pt>
                <c:pt idx="30">
                  <c:v>3.5221000000000002E-2</c:v>
                </c:pt>
                <c:pt idx="31">
                  <c:v>3.0862000000000001E-2</c:v>
                </c:pt>
                <c:pt idx="32">
                  <c:v>3.3406999999999999E-2</c:v>
                </c:pt>
                <c:pt idx="33">
                  <c:v>3.6339000000000003E-2</c:v>
                </c:pt>
                <c:pt idx="34">
                  <c:v>4.2728000000000002E-2</c:v>
                </c:pt>
                <c:pt idx="35">
                  <c:v>3.4916000000000003E-2</c:v>
                </c:pt>
                <c:pt idx="36">
                  <c:v>3.8434999999999997E-2</c:v>
                </c:pt>
                <c:pt idx="37">
                  <c:v>3.9315999999999997E-2</c:v>
                </c:pt>
                <c:pt idx="38">
                  <c:v>3.8379000000000003E-2</c:v>
                </c:pt>
                <c:pt idx="39">
                  <c:v>4.206E-2</c:v>
                </c:pt>
                <c:pt idx="40">
                  <c:v>4.0549000000000002E-2</c:v>
                </c:pt>
                <c:pt idx="41">
                  <c:v>4.6191000000000003E-2</c:v>
                </c:pt>
                <c:pt idx="42">
                  <c:v>4.1592999999999998E-2</c:v>
                </c:pt>
                <c:pt idx="43">
                  <c:v>4.9722000000000002E-2</c:v>
                </c:pt>
                <c:pt idx="44">
                  <c:v>4.6211000000000002E-2</c:v>
                </c:pt>
                <c:pt idx="45">
                  <c:v>4.4854999999999999E-2</c:v>
                </c:pt>
                <c:pt idx="46">
                  <c:v>5.6226999999999999E-2</c:v>
                </c:pt>
                <c:pt idx="47">
                  <c:v>4.9669999999999999E-2</c:v>
                </c:pt>
                <c:pt idx="48">
                  <c:v>5.1756000000000003E-2</c:v>
                </c:pt>
                <c:pt idx="49">
                  <c:v>4.8396000000000002E-2</c:v>
                </c:pt>
                <c:pt idx="50">
                  <c:v>5.0504E-2</c:v>
                </c:pt>
                <c:pt idx="51">
                  <c:v>5.6531999999999999E-2</c:v>
                </c:pt>
                <c:pt idx="52">
                  <c:v>5.7717999999999998E-2</c:v>
                </c:pt>
                <c:pt idx="53">
                  <c:v>5.4916E-2</c:v>
                </c:pt>
                <c:pt idx="54">
                  <c:v>5.3738000000000001E-2</c:v>
                </c:pt>
                <c:pt idx="55">
                  <c:v>5.4886999999999998E-2</c:v>
                </c:pt>
                <c:pt idx="56">
                  <c:v>5.5115999999999998E-2</c:v>
                </c:pt>
                <c:pt idx="57">
                  <c:v>5.6216000000000002E-2</c:v>
                </c:pt>
                <c:pt idx="58">
                  <c:v>6.4293000000000003E-2</c:v>
                </c:pt>
                <c:pt idx="59">
                  <c:v>5.8955E-2</c:v>
                </c:pt>
                <c:pt idx="60">
                  <c:v>6.5165000000000001E-2</c:v>
                </c:pt>
                <c:pt idx="61">
                  <c:v>6.1484999999999998E-2</c:v>
                </c:pt>
                <c:pt idx="62">
                  <c:v>6.0900000000000003E-2</c:v>
                </c:pt>
                <c:pt idx="63">
                  <c:v>6.6004999999999994E-2</c:v>
                </c:pt>
                <c:pt idx="64">
                  <c:v>6.6769999999999996E-2</c:v>
                </c:pt>
                <c:pt idx="65">
                  <c:v>6.8302000000000002E-2</c:v>
                </c:pt>
                <c:pt idx="66">
                  <c:v>7.1714E-2</c:v>
                </c:pt>
                <c:pt idx="67">
                  <c:v>6.6391000000000006E-2</c:v>
                </c:pt>
                <c:pt idx="68">
                  <c:v>6.9667999999999994E-2</c:v>
                </c:pt>
                <c:pt idx="69">
                  <c:v>6.8262000000000003E-2</c:v>
                </c:pt>
                <c:pt idx="70">
                  <c:v>7.2749999999999995E-2</c:v>
                </c:pt>
                <c:pt idx="71">
                  <c:v>7.0939000000000002E-2</c:v>
                </c:pt>
                <c:pt idx="72">
                  <c:v>7.2687000000000002E-2</c:v>
                </c:pt>
                <c:pt idx="73">
                  <c:v>7.6962000000000003E-2</c:v>
                </c:pt>
                <c:pt idx="74">
                  <c:v>7.8144000000000005E-2</c:v>
                </c:pt>
                <c:pt idx="75">
                  <c:v>7.4897000000000005E-2</c:v>
                </c:pt>
                <c:pt idx="76">
                  <c:v>7.8410999999999995E-2</c:v>
                </c:pt>
                <c:pt idx="77">
                  <c:v>7.7325000000000005E-2</c:v>
                </c:pt>
                <c:pt idx="78">
                  <c:v>7.9283999999999993E-2</c:v>
                </c:pt>
                <c:pt idx="79">
                  <c:v>8.0947000000000005E-2</c:v>
                </c:pt>
                <c:pt idx="80">
                  <c:v>8.2548999999999997E-2</c:v>
                </c:pt>
                <c:pt idx="81">
                  <c:v>8.7591000000000002E-2</c:v>
                </c:pt>
                <c:pt idx="82">
                  <c:v>0.09</c:v>
                </c:pt>
                <c:pt idx="83">
                  <c:v>8.5125999999999993E-2</c:v>
                </c:pt>
                <c:pt idx="84">
                  <c:v>8.7447999999999998E-2</c:v>
                </c:pt>
                <c:pt idx="85">
                  <c:v>9.2995999999999995E-2</c:v>
                </c:pt>
                <c:pt idx="86">
                  <c:v>9.5616999999999994E-2</c:v>
                </c:pt>
                <c:pt idx="87">
                  <c:v>9.0871999999999994E-2</c:v>
                </c:pt>
                <c:pt idx="88">
                  <c:v>9.1937000000000005E-2</c:v>
                </c:pt>
                <c:pt idx="89">
                  <c:v>9.4080999999999998E-2</c:v>
                </c:pt>
                <c:pt idx="90">
                  <c:v>9.7897999999999999E-2</c:v>
                </c:pt>
                <c:pt idx="91">
                  <c:v>9.0301999999999993E-2</c:v>
                </c:pt>
                <c:pt idx="92">
                  <c:v>9.6656000000000006E-2</c:v>
                </c:pt>
                <c:pt idx="93">
                  <c:v>9.9566000000000002E-2</c:v>
                </c:pt>
                <c:pt idx="94">
                  <c:v>0.101484</c:v>
                </c:pt>
                <c:pt idx="95">
                  <c:v>0.104228</c:v>
                </c:pt>
                <c:pt idx="96">
                  <c:v>9.9683999999999995E-2</c:v>
                </c:pt>
                <c:pt idx="97">
                  <c:v>0.10220600000000001</c:v>
                </c:pt>
                <c:pt idx="98">
                  <c:v>0.10247000000000001</c:v>
                </c:pt>
                <c:pt idx="99">
                  <c:v>0.11444600000000001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68B-4978-8B15-DE8512BE4F12}"/>
            </c:ext>
          </c:extLst>
        </c:ser>
        <c:ser>
          <c:idx val="1"/>
          <c:order val="1"/>
          <c:tx>
            <c:strRef>
              <c:f>'Exp 1'!$C$1</c:f>
              <c:strCache>
                <c:ptCount val="1"/>
                <c:pt idx="0">
                  <c:v>Parallel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'Exp 1'!$A$1:$A$101</c:f>
              <c:strCache>
                <c:ptCount val="101"/>
                <c:pt idx="0">
                  <c:v>N</c:v>
                </c:pt>
                <c:pt idx="1">
                  <c:v>20000</c:v>
                </c:pt>
                <c:pt idx="2">
                  <c:v>40000</c:v>
                </c:pt>
                <c:pt idx="3">
                  <c:v>60000</c:v>
                </c:pt>
                <c:pt idx="4">
                  <c:v>80000</c:v>
                </c:pt>
                <c:pt idx="5">
                  <c:v>100000</c:v>
                </c:pt>
                <c:pt idx="6">
                  <c:v>120000</c:v>
                </c:pt>
                <c:pt idx="7">
                  <c:v>140000</c:v>
                </c:pt>
                <c:pt idx="8">
                  <c:v>160000</c:v>
                </c:pt>
                <c:pt idx="9">
                  <c:v>180000</c:v>
                </c:pt>
                <c:pt idx="10">
                  <c:v>200000</c:v>
                </c:pt>
                <c:pt idx="11">
                  <c:v>220000</c:v>
                </c:pt>
                <c:pt idx="12">
                  <c:v>240000</c:v>
                </c:pt>
                <c:pt idx="13">
                  <c:v>260000</c:v>
                </c:pt>
                <c:pt idx="14">
                  <c:v>280000</c:v>
                </c:pt>
                <c:pt idx="15">
                  <c:v>300000</c:v>
                </c:pt>
                <c:pt idx="16">
                  <c:v>320000</c:v>
                </c:pt>
                <c:pt idx="17">
                  <c:v>340000</c:v>
                </c:pt>
                <c:pt idx="18">
                  <c:v>360000</c:v>
                </c:pt>
                <c:pt idx="19">
                  <c:v>380000</c:v>
                </c:pt>
                <c:pt idx="20">
                  <c:v>400000</c:v>
                </c:pt>
                <c:pt idx="21">
                  <c:v>420000</c:v>
                </c:pt>
                <c:pt idx="22">
                  <c:v>440000</c:v>
                </c:pt>
                <c:pt idx="23">
                  <c:v>460000</c:v>
                </c:pt>
                <c:pt idx="24">
                  <c:v>480000</c:v>
                </c:pt>
                <c:pt idx="25">
                  <c:v>500000</c:v>
                </c:pt>
                <c:pt idx="26">
                  <c:v>520000</c:v>
                </c:pt>
                <c:pt idx="27">
                  <c:v>540000</c:v>
                </c:pt>
                <c:pt idx="28">
                  <c:v>560000</c:v>
                </c:pt>
                <c:pt idx="29">
                  <c:v>580000</c:v>
                </c:pt>
                <c:pt idx="30">
                  <c:v>600000</c:v>
                </c:pt>
                <c:pt idx="31">
                  <c:v>620000</c:v>
                </c:pt>
                <c:pt idx="32">
                  <c:v>640000</c:v>
                </c:pt>
                <c:pt idx="33">
                  <c:v>660000</c:v>
                </c:pt>
                <c:pt idx="34">
                  <c:v>680000</c:v>
                </c:pt>
                <c:pt idx="35">
                  <c:v>700000</c:v>
                </c:pt>
                <c:pt idx="36">
                  <c:v>720000</c:v>
                </c:pt>
                <c:pt idx="37">
                  <c:v>740000</c:v>
                </c:pt>
                <c:pt idx="38">
                  <c:v>760000</c:v>
                </c:pt>
                <c:pt idx="39">
                  <c:v>780000</c:v>
                </c:pt>
                <c:pt idx="40">
                  <c:v>800000</c:v>
                </c:pt>
                <c:pt idx="41">
                  <c:v>820000</c:v>
                </c:pt>
                <c:pt idx="42">
                  <c:v>840000</c:v>
                </c:pt>
                <c:pt idx="43">
                  <c:v>860000</c:v>
                </c:pt>
                <c:pt idx="44">
                  <c:v>880000</c:v>
                </c:pt>
                <c:pt idx="45">
                  <c:v>900000</c:v>
                </c:pt>
                <c:pt idx="46">
                  <c:v>920000</c:v>
                </c:pt>
                <c:pt idx="47">
                  <c:v>940000</c:v>
                </c:pt>
                <c:pt idx="48">
                  <c:v>960000</c:v>
                </c:pt>
                <c:pt idx="49">
                  <c:v>980000</c:v>
                </c:pt>
                <c:pt idx="50">
                  <c:v>1000000</c:v>
                </c:pt>
                <c:pt idx="51">
                  <c:v>1020000</c:v>
                </c:pt>
                <c:pt idx="52">
                  <c:v>1040000</c:v>
                </c:pt>
                <c:pt idx="53">
                  <c:v>1060000</c:v>
                </c:pt>
                <c:pt idx="54">
                  <c:v>1080000</c:v>
                </c:pt>
                <c:pt idx="55">
                  <c:v>1100000</c:v>
                </c:pt>
                <c:pt idx="56">
                  <c:v>1120000</c:v>
                </c:pt>
                <c:pt idx="57">
                  <c:v>1140000</c:v>
                </c:pt>
                <c:pt idx="58">
                  <c:v>1160000</c:v>
                </c:pt>
                <c:pt idx="59">
                  <c:v>1180000</c:v>
                </c:pt>
                <c:pt idx="60">
                  <c:v>1200000</c:v>
                </c:pt>
                <c:pt idx="61">
                  <c:v>1220000</c:v>
                </c:pt>
                <c:pt idx="62">
                  <c:v>1240000</c:v>
                </c:pt>
                <c:pt idx="63">
                  <c:v>1260000</c:v>
                </c:pt>
                <c:pt idx="64">
                  <c:v>1280000</c:v>
                </c:pt>
                <c:pt idx="65">
                  <c:v>1300000</c:v>
                </c:pt>
                <c:pt idx="66">
                  <c:v>1320000</c:v>
                </c:pt>
                <c:pt idx="67">
                  <c:v>1340000</c:v>
                </c:pt>
                <c:pt idx="68">
                  <c:v>1360000</c:v>
                </c:pt>
                <c:pt idx="69">
                  <c:v>1380000</c:v>
                </c:pt>
                <c:pt idx="70">
                  <c:v>1400000</c:v>
                </c:pt>
                <c:pt idx="71">
                  <c:v>1420000</c:v>
                </c:pt>
                <c:pt idx="72">
                  <c:v>1440000</c:v>
                </c:pt>
                <c:pt idx="73">
                  <c:v>1460000</c:v>
                </c:pt>
                <c:pt idx="74">
                  <c:v>1480000</c:v>
                </c:pt>
                <c:pt idx="75">
                  <c:v>1500000</c:v>
                </c:pt>
                <c:pt idx="76">
                  <c:v>1520000</c:v>
                </c:pt>
                <c:pt idx="77">
                  <c:v>1540000</c:v>
                </c:pt>
                <c:pt idx="78">
                  <c:v>1560000</c:v>
                </c:pt>
                <c:pt idx="79">
                  <c:v>1580000</c:v>
                </c:pt>
                <c:pt idx="80">
                  <c:v>1600000</c:v>
                </c:pt>
                <c:pt idx="81">
                  <c:v>1620000</c:v>
                </c:pt>
                <c:pt idx="82">
                  <c:v>1640000</c:v>
                </c:pt>
                <c:pt idx="83">
                  <c:v>1660000</c:v>
                </c:pt>
                <c:pt idx="84">
                  <c:v>1680000</c:v>
                </c:pt>
                <c:pt idx="85">
                  <c:v>1700000</c:v>
                </c:pt>
                <c:pt idx="86">
                  <c:v>1720000</c:v>
                </c:pt>
                <c:pt idx="87">
                  <c:v>1740000</c:v>
                </c:pt>
                <c:pt idx="88">
                  <c:v>1760000</c:v>
                </c:pt>
                <c:pt idx="89">
                  <c:v>1780000</c:v>
                </c:pt>
                <c:pt idx="90">
                  <c:v>1800000</c:v>
                </c:pt>
                <c:pt idx="91">
                  <c:v>1820000</c:v>
                </c:pt>
                <c:pt idx="92">
                  <c:v>1840000</c:v>
                </c:pt>
                <c:pt idx="93">
                  <c:v>1860000</c:v>
                </c:pt>
                <c:pt idx="94">
                  <c:v>1880000</c:v>
                </c:pt>
                <c:pt idx="95">
                  <c:v>1900000</c:v>
                </c:pt>
                <c:pt idx="96">
                  <c:v>1920000</c:v>
                </c:pt>
                <c:pt idx="97">
                  <c:v>1940000</c:v>
                </c:pt>
                <c:pt idx="98">
                  <c:v>1960000</c:v>
                </c:pt>
                <c:pt idx="99">
                  <c:v>1980000</c:v>
                </c:pt>
                <c:pt idx="100">
                  <c:v>2000000</c:v>
                </c:pt>
              </c:strCache>
            </c:strRef>
          </c:cat>
          <c:val>
            <c:numRef>
              <c:f>'Exp 1'!$C$2:$C$101</c:f>
              <c:numCache>
                <c:formatCode>General</c:formatCode>
                <c:ptCount val="100"/>
                <c:pt idx="0">
                  <c:v>3.6410000000000001E-3</c:v>
                </c:pt>
                <c:pt idx="1">
                  <c:v>6.7409999999999996E-3</c:v>
                </c:pt>
                <c:pt idx="2">
                  <c:v>6.8609999999999999E-3</c:v>
                </c:pt>
                <c:pt idx="3">
                  <c:v>1.1642E-2</c:v>
                </c:pt>
                <c:pt idx="4">
                  <c:v>9.4319999999999994E-3</c:v>
                </c:pt>
                <c:pt idx="5">
                  <c:v>1.1722E-2</c:v>
                </c:pt>
                <c:pt idx="6">
                  <c:v>1.2423999999999999E-2</c:v>
                </c:pt>
                <c:pt idx="7">
                  <c:v>1.5342E-2</c:v>
                </c:pt>
                <c:pt idx="8">
                  <c:v>1.5041000000000001E-2</c:v>
                </c:pt>
                <c:pt idx="9">
                  <c:v>1.0521000000000001E-2</c:v>
                </c:pt>
                <c:pt idx="10">
                  <c:v>1.6614E-2</c:v>
                </c:pt>
                <c:pt idx="11">
                  <c:v>1.2434000000000001E-2</c:v>
                </c:pt>
                <c:pt idx="12">
                  <c:v>1.4227999999999999E-2</c:v>
                </c:pt>
                <c:pt idx="13">
                  <c:v>1.5074000000000001E-2</c:v>
                </c:pt>
                <c:pt idx="14">
                  <c:v>2.0104E-2</c:v>
                </c:pt>
                <c:pt idx="15">
                  <c:v>2.0327999999999999E-2</c:v>
                </c:pt>
                <c:pt idx="16">
                  <c:v>2.1513000000000001E-2</c:v>
                </c:pt>
                <c:pt idx="17">
                  <c:v>2.3777E-2</c:v>
                </c:pt>
                <c:pt idx="18">
                  <c:v>2.019E-2</c:v>
                </c:pt>
                <c:pt idx="19">
                  <c:v>2.0877E-2</c:v>
                </c:pt>
                <c:pt idx="20">
                  <c:v>2.1128000000000001E-2</c:v>
                </c:pt>
                <c:pt idx="21">
                  <c:v>2.3449000000000001E-2</c:v>
                </c:pt>
                <c:pt idx="22">
                  <c:v>2.4473999999999999E-2</c:v>
                </c:pt>
                <c:pt idx="23">
                  <c:v>2.6252000000000001E-2</c:v>
                </c:pt>
                <c:pt idx="24">
                  <c:v>2.478E-2</c:v>
                </c:pt>
                <c:pt idx="25">
                  <c:v>3.1129E-2</c:v>
                </c:pt>
                <c:pt idx="26">
                  <c:v>2.6315999999999999E-2</c:v>
                </c:pt>
                <c:pt idx="27">
                  <c:v>2.7913E-2</c:v>
                </c:pt>
                <c:pt idx="28">
                  <c:v>3.2515000000000002E-2</c:v>
                </c:pt>
                <c:pt idx="29">
                  <c:v>3.0491000000000001E-2</c:v>
                </c:pt>
                <c:pt idx="30">
                  <c:v>3.0852000000000001E-2</c:v>
                </c:pt>
                <c:pt idx="31">
                  <c:v>3.2085000000000002E-2</c:v>
                </c:pt>
                <c:pt idx="32">
                  <c:v>3.4958999999999997E-2</c:v>
                </c:pt>
                <c:pt idx="33">
                  <c:v>3.2666000000000001E-2</c:v>
                </c:pt>
                <c:pt idx="34">
                  <c:v>3.4820999999999998E-2</c:v>
                </c:pt>
                <c:pt idx="35">
                  <c:v>3.5383999999999999E-2</c:v>
                </c:pt>
                <c:pt idx="36">
                  <c:v>3.7872000000000003E-2</c:v>
                </c:pt>
                <c:pt idx="37">
                  <c:v>3.8530000000000002E-2</c:v>
                </c:pt>
                <c:pt idx="38">
                  <c:v>3.7525000000000003E-2</c:v>
                </c:pt>
                <c:pt idx="39">
                  <c:v>3.8873999999999999E-2</c:v>
                </c:pt>
                <c:pt idx="40">
                  <c:v>4.0710000000000003E-2</c:v>
                </c:pt>
                <c:pt idx="41">
                  <c:v>4.6185999999999998E-2</c:v>
                </c:pt>
                <c:pt idx="42">
                  <c:v>4.1708000000000002E-2</c:v>
                </c:pt>
                <c:pt idx="43">
                  <c:v>4.1798000000000002E-2</c:v>
                </c:pt>
                <c:pt idx="44">
                  <c:v>4.3572E-2</c:v>
                </c:pt>
                <c:pt idx="45">
                  <c:v>4.5761999999999997E-2</c:v>
                </c:pt>
                <c:pt idx="46">
                  <c:v>4.6274000000000003E-2</c:v>
                </c:pt>
                <c:pt idx="47">
                  <c:v>4.9584000000000003E-2</c:v>
                </c:pt>
                <c:pt idx="48">
                  <c:v>4.9359E-2</c:v>
                </c:pt>
                <c:pt idx="49">
                  <c:v>4.7927999999999998E-2</c:v>
                </c:pt>
                <c:pt idx="50">
                  <c:v>4.9057000000000003E-2</c:v>
                </c:pt>
                <c:pt idx="51">
                  <c:v>5.1071999999999999E-2</c:v>
                </c:pt>
                <c:pt idx="52">
                  <c:v>5.0473999999999998E-2</c:v>
                </c:pt>
                <c:pt idx="53">
                  <c:v>5.6208000000000001E-2</c:v>
                </c:pt>
                <c:pt idx="54">
                  <c:v>5.2944999999999999E-2</c:v>
                </c:pt>
                <c:pt idx="55">
                  <c:v>5.5403000000000001E-2</c:v>
                </c:pt>
                <c:pt idx="56">
                  <c:v>5.4701E-2</c:v>
                </c:pt>
                <c:pt idx="57">
                  <c:v>5.5173E-2</c:v>
                </c:pt>
                <c:pt idx="58">
                  <c:v>5.6784000000000001E-2</c:v>
                </c:pt>
                <c:pt idx="59">
                  <c:v>5.6760999999999999E-2</c:v>
                </c:pt>
                <c:pt idx="60">
                  <c:v>5.8932999999999999E-2</c:v>
                </c:pt>
                <c:pt idx="61">
                  <c:v>5.9055999999999997E-2</c:v>
                </c:pt>
                <c:pt idx="62">
                  <c:v>6.3337000000000004E-2</c:v>
                </c:pt>
                <c:pt idx="63">
                  <c:v>6.1866999999999998E-2</c:v>
                </c:pt>
                <c:pt idx="64">
                  <c:v>6.2105E-2</c:v>
                </c:pt>
                <c:pt idx="65">
                  <c:v>6.3022999999999996E-2</c:v>
                </c:pt>
                <c:pt idx="66">
                  <c:v>6.3828999999999997E-2</c:v>
                </c:pt>
                <c:pt idx="67">
                  <c:v>6.4798999999999995E-2</c:v>
                </c:pt>
                <c:pt idx="68">
                  <c:v>6.5570000000000003E-2</c:v>
                </c:pt>
                <c:pt idx="69">
                  <c:v>6.6750000000000004E-2</c:v>
                </c:pt>
                <c:pt idx="70">
                  <c:v>6.6784999999999997E-2</c:v>
                </c:pt>
                <c:pt idx="71">
                  <c:v>6.9231000000000001E-2</c:v>
                </c:pt>
                <c:pt idx="72">
                  <c:v>7.0719000000000004E-2</c:v>
                </c:pt>
                <c:pt idx="73">
                  <c:v>7.1571999999999997E-2</c:v>
                </c:pt>
                <c:pt idx="74">
                  <c:v>7.1244000000000002E-2</c:v>
                </c:pt>
                <c:pt idx="75">
                  <c:v>7.1566000000000005E-2</c:v>
                </c:pt>
                <c:pt idx="76">
                  <c:v>7.5201000000000004E-2</c:v>
                </c:pt>
                <c:pt idx="77">
                  <c:v>7.4632000000000004E-2</c:v>
                </c:pt>
                <c:pt idx="78">
                  <c:v>7.6837000000000003E-2</c:v>
                </c:pt>
                <c:pt idx="79">
                  <c:v>7.5897000000000006E-2</c:v>
                </c:pt>
                <c:pt idx="80">
                  <c:v>7.9282000000000005E-2</c:v>
                </c:pt>
                <c:pt idx="81">
                  <c:v>8.0113000000000004E-2</c:v>
                </c:pt>
                <c:pt idx="82">
                  <c:v>8.0397999999999997E-2</c:v>
                </c:pt>
                <c:pt idx="83">
                  <c:v>8.3082000000000003E-2</c:v>
                </c:pt>
                <c:pt idx="84">
                  <c:v>8.4374000000000005E-2</c:v>
                </c:pt>
                <c:pt idx="85">
                  <c:v>8.2192000000000001E-2</c:v>
                </c:pt>
                <c:pt idx="86">
                  <c:v>8.4831000000000004E-2</c:v>
                </c:pt>
                <c:pt idx="87">
                  <c:v>8.5775000000000004E-2</c:v>
                </c:pt>
                <c:pt idx="88">
                  <c:v>8.6268999999999998E-2</c:v>
                </c:pt>
                <c:pt idx="89">
                  <c:v>8.7543999999999997E-2</c:v>
                </c:pt>
                <c:pt idx="90">
                  <c:v>9.0755000000000002E-2</c:v>
                </c:pt>
                <c:pt idx="91">
                  <c:v>8.9735999999999996E-2</c:v>
                </c:pt>
                <c:pt idx="92">
                  <c:v>8.8003999999999999E-2</c:v>
                </c:pt>
                <c:pt idx="93">
                  <c:v>9.5563999999999996E-2</c:v>
                </c:pt>
                <c:pt idx="94">
                  <c:v>9.4671000000000005E-2</c:v>
                </c:pt>
                <c:pt idx="95">
                  <c:v>9.0292999999999998E-2</c:v>
                </c:pt>
                <c:pt idx="96">
                  <c:v>9.1419E-2</c:v>
                </c:pt>
                <c:pt idx="97">
                  <c:v>9.6518999999999994E-2</c:v>
                </c:pt>
                <c:pt idx="98">
                  <c:v>9.3304999999999999E-2</c:v>
                </c:pt>
                <c:pt idx="99">
                  <c:v>9.5915E-2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68B-4978-8B15-DE8512BE4F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75162064"/>
        <c:axId val="1575163504"/>
      </c:lineChart>
      <c:catAx>
        <c:axId val="15751620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5163504"/>
        <c:crosses val="autoZero"/>
        <c:auto val="1"/>
        <c:lblAlgn val="ctr"/>
        <c:lblOffset val="100"/>
        <c:noMultiLvlLbl val="0"/>
      </c:catAx>
      <c:valAx>
        <c:axId val="1575163504"/>
        <c:scaling>
          <c:orientation val="minMax"/>
          <c:max val="0.1200000000000000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5162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lt1"/>
    </a:solidFill>
    <a:ln w="12700" cap="flat" cmpd="sng" algn="ctr">
      <a:solidFill>
        <a:schemeClr val="dk1"/>
      </a:solidFill>
      <a:prstDash val="solid"/>
      <a:miter lim="800000"/>
    </a:ln>
    <a:effectLst/>
  </c:spPr>
  <c:txPr>
    <a:bodyPr/>
    <a:lstStyle/>
    <a:p>
      <a:pPr>
        <a:defRPr>
          <a:solidFill>
            <a:schemeClr val="dk1"/>
          </a:solidFill>
          <a:latin typeface="+mn-lt"/>
          <a:ea typeface="+mn-ea"/>
          <a:cs typeface="+mn-cs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Fixed 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'Exp 2'!$B$1</c:f>
              <c:strCache>
                <c:ptCount val="1"/>
                <c:pt idx="0">
                  <c:v>Sequential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'Exp 2'!$A$1:$A$25</c:f>
              <c:strCache>
                <c:ptCount val="25"/>
                <c:pt idx="0">
                  <c:v>n_proc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</c:strCache>
            </c:strRef>
          </c:cat>
          <c:val>
            <c:numRef>
              <c:f>'Exp 2'!$B$2:$B$25</c:f>
              <c:numCache>
                <c:formatCode>General</c:formatCode>
                <c:ptCount val="24"/>
                <c:pt idx="0">
                  <c:v>0.103489</c:v>
                </c:pt>
                <c:pt idx="1">
                  <c:v>9.9867999999999998E-2</c:v>
                </c:pt>
                <c:pt idx="2">
                  <c:v>9.9806000000000006E-2</c:v>
                </c:pt>
                <c:pt idx="3">
                  <c:v>0.1008445</c:v>
                </c:pt>
                <c:pt idx="4">
                  <c:v>0.10022</c:v>
                </c:pt>
                <c:pt idx="5">
                  <c:v>0.10116700000000001</c:v>
                </c:pt>
                <c:pt idx="6">
                  <c:v>0.102245</c:v>
                </c:pt>
                <c:pt idx="7">
                  <c:v>0.100771</c:v>
                </c:pt>
                <c:pt idx="8">
                  <c:v>0.10124850000000001</c:v>
                </c:pt>
                <c:pt idx="9">
                  <c:v>0.100906</c:v>
                </c:pt>
                <c:pt idx="10">
                  <c:v>0.10068099999999999</c:v>
                </c:pt>
                <c:pt idx="11">
                  <c:v>0.10137550000000001</c:v>
                </c:pt>
                <c:pt idx="12">
                  <c:v>0.101769</c:v>
                </c:pt>
                <c:pt idx="13">
                  <c:v>0.102979</c:v>
                </c:pt>
                <c:pt idx="14">
                  <c:v>0.1019185</c:v>
                </c:pt>
                <c:pt idx="15">
                  <c:v>0.10226250000000001</c:v>
                </c:pt>
                <c:pt idx="16">
                  <c:v>0.10117950000000001</c:v>
                </c:pt>
                <c:pt idx="17">
                  <c:v>0.10130700000000001</c:v>
                </c:pt>
                <c:pt idx="18">
                  <c:v>0.10117499999999999</c:v>
                </c:pt>
                <c:pt idx="19">
                  <c:v>9.9660499999999999E-2</c:v>
                </c:pt>
                <c:pt idx="20">
                  <c:v>9.9635000000000001E-2</c:v>
                </c:pt>
                <c:pt idx="21">
                  <c:v>0.1011445</c:v>
                </c:pt>
                <c:pt idx="22">
                  <c:v>0.10079199999999999</c:v>
                </c:pt>
                <c:pt idx="23">
                  <c:v>0.10061049999999999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E2-401B-BDA2-173245FD51A0}"/>
            </c:ext>
          </c:extLst>
        </c:ser>
        <c:ser>
          <c:idx val="1"/>
          <c:order val="1"/>
          <c:tx>
            <c:strRef>
              <c:f>'Exp 2'!$C$1</c:f>
              <c:strCache>
                <c:ptCount val="1"/>
                <c:pt idx="0">
                  <c:v>Parallel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'Exp 2'!$A$1:$A$25</c:f>
              <c:strCache>
                <c:ptCount val="25"/>
                <c:pt idx="0">
                  <c:v>n_proc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</c:strCache>
            </c:strRef>
          </c:cat>
          <c:val>
            <c:numRef>
              <c:f>'Exp 2'!$C$2:$C$25</c:f>
              <c:numCache>
                <c:formatCode>General</c:formatCode>
                <c:ptCount val="24"/>
                <c:pt idx="0">
                  <c:v>0.104826</c:v>
                </c:pt>
                <c:pt idx="1">
                  <c:v>0.10305500000000001</c:v>
                </c:pt>
                <c:pt idx="2">
                  <c:v>0.1032545</c:v>
                </c:pt>
                <c:pt idx="3">
                  <c:v>0.103062</c:v>
                </c:pt>
                <c:pt idx="4">
                  <c:v>0.10059899999999999</c:v>
                </c:pt>
                <c:pt idx="5">
                  <c:v>8.7485999999999994E-2</c:v>
                </c:pt>
                <c:pt idx="6">
                  <c:v>8.4331000000000003E-2</c:v>
                </c:pt>
                <c:pt idx="7">
                  <c:v>8.4732000000000002E-2</c:v>
                </c:pt>
                <c:pt idx="8">
                  <c:v>8.5403000000000007E-2</c:v>
                </c:pt>
                <c:pt idx="9">
                  <c:v>8.5176000000000002E-2</c:v>
                </c:pt>
                <c:pt idx="10">
                  <c:v>8.3644999999999997E-2</c:v>
                </c:pt>
                <c:pt idx="11">
                  <c:v>9.0492000000000003E-2</c:v>
                </c:pt>
                <c:pt idx="12">
                  <c:v>0.1012055</c:v>
                </c:pt>
                <c:pt idx="13">
                  <c:v>0.1050065</c:v>
                </c:pt>
                <c:pt idx="14">
                  <c:v>0.10381899999999999</c:v>
                </c:pt>
                <c:pt idx="15">
                  <c:v>0.103759</c:v>
                </c:pt>
                <c:pt idx="16">
                  <c:v>0.10378</c:v>
                </c:pt>
                <c:pt idx="17">
                  <c:v>0.10467799999999999</c:v>
                </c:pt>
                <c:pt idx="18">
                  <c:v>0.10412200000000001</c:v>
                </c:pt>
                <c:pt idx="19">
                  <c:v>0.101411</c:v>
                </c:pt>
                <c:pt idx="20">
                  <c:v>0.10011399999999999</c:v>
                </c:pt>
                <c:pt idx="21">
                  <c:v>0.102254</c:v>
                </c:pt>
                <c:pt idx="22">
                  <c:v>0.104657</c:v>
                </c:pt>
                <c:pt idx="23">
                  <c:v>0.10734299999999999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E2-401B-BDA2-173245FD51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22034479"/>
        <c:axId val="1422033039"/>
      </c:lineChart>
      <c:catAx>
        <c:axId val="142203447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22033039"/>
        <c:crosses val="autoZero"/>
        <c:auto val="1"/>
        <c:lblAlgn val="ctr"/>
        <c:lblOffset val="100"/>
        <c:noMultiLvlLbl val="0"/>
      </c:catAx>
      <c:valAx>
        <c:axId val="1422033039"/>
        <c:scaling>
          <c:orientation val="minMax"/>
          <c:min val="5.000000000000001E-2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22034479"/>
        <c:crosses val="autoZero"/>
        <c:crossBetween val="between"/>
      </c:valAx>
      <c:spPr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lt1"/>
    </a:solidFill>
    <a:ln w="12700" cap="flat" cmpd="sng" algn="ctr">
      <a:solidFill>
        <a:schemeClr val="dk1"/>
      </a:solidFill>
      <a:prstDash val="solid"/>
      <a:miter lim="800000"/>
    </a:ln>
    <a:effectLst/>
  </c:spPr>
  <c:txPr>
    <a:bodyPr/>
    <a:lstStyle/>
    <a:p>
      <a:pPr>
        <a:defRPr>
          <a:solidFill>
            <a:schemeClr val="dk1"/>
          </a:solidFill>
          <a:latin typeface="+mn-lt"/>
          <a:ea typeface="+mn-ea"/>
          <a:cs typeface="+mn-cs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7044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BBE2-7578-9BEB-14BD-464DB3ACA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B27920-DE4C-B486-AD25-3E2134243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031FEF-273E-9FF7-5447-19A6D6A87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9025C-3118-B675-5E42-3686485C22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2246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DE5BB-BF30-2C14-B27F-99A0090ED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AD3F03-F97B-D4F0-8FA2-A06D965A5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45EE75-9139-7857-62CE-C58134B7B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9C8D2-117F-F81C-C69D-5A3B584DAA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3895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32F6D-EE33-66CD-3420-B13D38E82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73A71-D3F9-C8B4-59C0-047FB7C65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231BD0-9922-D0FA-903A-BA4554B82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82A8BA-A56C-DC5A-17C3-083BA4E9D1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5269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8BE31-733E-273D-9430-6B376829F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F0EC76-1276-0401-E817-9732074C80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EB3FA4-68C1-60EE-313B-E5D398FF0C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1D406-3FAF-3F30-F5FC-7C82F0DC77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5028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D90AE-E438-C30A-B553-1C6334880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1F6CA4-A566-7479-1370-F755BDEB9B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B3278C-2134-5F7B-39F1-CBD1956DB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66799-9BAE-EB80-9437-71801D1DA2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7515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5FF4-4C01-C5EC-8DAD-F4F1BF0CD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4B818C-B406-CF1D-51DC-B2E04D5557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6AF60D-50E9-0993-03C1-C4EE1060BA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A9A26-8F90-A9B7-58D3-C3A9CA1EAC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7035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1F5A7-A541-300A-1F24-A26340151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633D75-3FDA-4445-8C5B-77F23074F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8953A-C582-5D8C-353E-E2F029818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E1D88-728E-A6B2-484C-B3F8EA5732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64923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96808-B2AF-E4AE-3550-8F695D75A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9D691-9EF1-5EC9-5DCA-A18F43077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DFE3AB-E1B3-9739-EB1F-4CEAACB5E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FC930-0456-7D5A-5667-F62D0C24B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469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65E28-9120-0541-E408-8A8D04866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8504F6-CAE7-D386-EAAB-384FD90F8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A4C6F-0729-8B95-E7CA-D90EE5412C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D25AB-CEE7-598C-8002-5974DBF4C8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108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0D90F-A8A8-C6EB-FAA7-9D68F7267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0191E1-98C1-E2ED-26DC-546423C1E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592794-1B4B-C01E-AA1B-A20223634A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5B037-D931-003C-6854-DC530A7280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4339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5EC77-58BF-C13A-19A4-F7BAFE2B6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112A7-32B2-7703-C582-E2E1B3000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C7289E-051A-625B-57D3-BB7F35651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8BA92-3CAC-BEE0-FFE2-6260CC6309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8193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6D5DC-4401-1DEB-DC05-B6976DB84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2DE67F-D9F6-2379-A6F1-D4A2DFF828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DBA32B-141F-BF77-2B9B-CF21AA5F7F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D63450-BFF4-1653-E89B-67A5FD64B4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3825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CD1A-63B5-44DE-4453-28073EBA4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FF8BFC-4646-E0C6-FAF2-A7C246D0D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14E02C-191F-C4AD-D25B-242F813146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9346D-8A26-C903-623B-C75107144B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414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79D3A-5323-148E-4A93-DDF4A91E0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72A481-6C23-443C-F791-A9F9800284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E795F1-E94F-E77C-461E-E22E2D975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27CDA-968D-B539-11E6-3241954862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4900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F9570-3D80-BA39-1086-A18FA4D4A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0EAE6-9CD3-6CB9-7FC7-48531DFB71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20CF30-F192-8B1A-0C6F-83756EF0C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0B85E-849F-9BD9-DA0C-CB62540010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5839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1FA76-752F-4A41-66FD-D25656CA1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7AC53A-15B1-0A99-20CC-4B955B7783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AD4A34-A08A-579A-AF30-D6E449BCD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7097B2-9D10-57E4-A7F1-86C60A0C32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0423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55077" y="100584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Lab Project  4</a:t>
            </a:r>
          </a:p>
        </p:txBody>
      </p:sp>
      <p:sp>
        <p:nvSpPr>
          <p:cNvPr id="4" name="Text 2"/>
          <p:cNvSpPr/>
          <p:nvPr/>
        </p:nvSpPr>
        <p:spPr>
          <a:xfrm>
            <a:off x="1055077" y="19659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vs Parallel Compute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055077" y="260604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55077" y="3094893"/>
            <a:ext cx="2834640" cy="59436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55077" y="3094893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Deadline: March 23, 11:59 PM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55077" y="3826413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Grade: 14%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Team Roles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19"/>
            <a:ext cx="3886200" cy="3657599"/>
          </a:xfrm>
          <a:prstGeom prst="rect">
            <a:avLst/>
          </a:prstGeom>
          <a:solidFill>
            <a:srgbClr val="1C2E3E"/>
          </a:solidFill>
          <a:ln w="19050">
            <a:solidFill>
              <a:srgbClr val="00C9A7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3886200" cy="502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96012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1: Sama Emad Abu Zahra	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360170"/>
            <a:ext cx="3794760" cy="32232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Requirements: a, b, c, d + adding parallel and sequential compute to xv6 (Bonus part)</a:t>
            </a:r>
          </a:p>
          <a:p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sequential_compute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parallel_compute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(forking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n_proc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children, distributing ranges via pipes, collecting results via pipes)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correctness test: run both functions on simple known inputs (like case where N is not divisible by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n_proc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1,2,3,4,5 with add) and verify they produce identical results, including the edge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slides for: roles, pseudo-code of both functions, simple correctness examples, and the pipe/process figure</a:t>
            </a:r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977640" cy="3657600"/>
          </a:xfrm>
          <a:prstGeom prst="rect">
            <a:avLst/>
          </a:prstGeom>
          <a:solidFill>
            <a:srgbClr val="1C2E3E"/>
          </a:solidFill>
          <a:ln w="19050">
            <a:solidFill>
              <a:srgbClr val="FFB347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3977640" cy="50292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96012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2: Yara 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83480" y="15544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Requirements: a, e, f, g 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two test functions (vary N with fixed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n_proc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vary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n_proc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fixed N), each producing at least 50 readings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curve smoothing (run each point an odd number of times, take the median)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the Excel file: 2 sheets, each with raw data and a graph </a:t>
            </a:r>
          </a:p>
          <a:p>
            <a:pPr marL="228600" indent="-228600">
              <a:buFont typeface="+mj-lt"/>
              <a:buAutoNum type="arabicPeriod"/>
            </a:pPr>
            <a:endParaRPr lang="en-US" sz="11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slides for: how the tests are designed and ranges chosen, the smoothing method, and the comparison results with answers to both questions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Editing the experiment codes to add them to xv6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sequential_compute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93192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N numbers from a file and applies function f pairwise left-to-right. No forking, no pipes — pure sequential fold.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914400"/>
            <a:ext cx="4343400" cy="137160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17720" y="9601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17720" y="132588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sequential_compute(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char *filepath,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(*f)(int, int)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423160"/>
            <a:ext cx="8503920" cy="246888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14600"/>
            <a:ext cx="81381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3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sequential_compute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f):
    nums ← </a:t>
            </a:r>
            <a:r>
              <a:rPr lang="en-US" sz="13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30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         // parse newline or comma separated
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← nums[0]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len(nums) - 1 :
        result ← f(result, nums[i])      // fold left
</a:t>
            </a: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30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5B3854-6ADE-1361-C926-BC58365BF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478A43A-06D6-0B79-0B1C-69F930775618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0303AF-3C5C-D3B3-2594-B705F57EB492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Parallel Compute - Description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A68B348-F7F1-BA22-450B-F651397AFFD9}"/>
              </a:ext>
            </a:extLst>
          </p:cNvPr>
          <p:cNvSpPr/>
          <p:nvPr/>
        </p:nvSpPr>
        <p:spPr>
          <a:xfrm>
            <a:off x="457200" y="1325880"/>
            <a:ext cx="8015068" cy="3017521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3B31F22-1334-30EB-0ED4-0FC625DB0246}"/>
              </a:ext>
            </a:extLst>
          </p:cNvPr>
          <p:cNvSpPr/>
          <p:nvPr/>
        </p:nvSpPr>
        <p:spPr>
          <a:xfrm>
            <a:off x="594360" y="14560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DA7DDB5-7839-A085-F6AE-B26DCE933E60}"/>
              </a:ext>
            </a:extLst>
          </p:cNvPr>
          <p:cNvSpPr/>
          <p:nvPr/>
        </p:nvSpPr>
        <p:spPr>
          <a:xfrm>
            <a:off x="1041009" y="2440745"/>
            <a:ext cx="7336302" cy="1515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chemeClr val="bg1"/>
                </a:solidFill>
              </a:rPr>
              <a:t>Takes: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path of a file containing N numbers separated by new lines (or commas)</a:t>
            </a: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Number of processes </a:t>
            </a:r>
            <a:r>
              <a:rPr lang="en-US" dirty="0" err="1">
                <a:solidFill>
                  <a:schemeClr val="bg1"/>
                </a:solidFill>
              </a:rPr>
              <a:t>n_proc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marL="285750" indent="-285750" fontAlgn="base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 pointer to a function f that takes 2 numbers and returns a number.</a:t>
            </a:r>
          </a:p>
          <a:p>
            <a:pPr fontAlgn="base"/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then does the same as </a:t>
            </a:r>
            <a:r>
              <a:rPr lang="en-US" dirty="0" err="1">
                <a:solidFill>
                  <a:schemeClr val="bg1"/>
                </a:solidFill>
              </a:rPr>
              <a:t>sequential_compute</a:t>
            </a:r>
            <a:r>
              <a:rPr lang="en-US" dirty="0">
                <a:solidFill>
                  <a:schemeClr val="bg1"/>
                </a:solidFill>
              </a:rPr>
              <a:t> except that it splits the computation over </a:t>
            </a:r>
            <a:r>
              <a:rPr lang="en-US" dirty="0" err="1">
                <a:solidFill>
                  <a:schemeClr val="bg1"/>
                </a:solidFill>
              </a:rPr>
              <a:t>n_proc</a:t>
            </a:r>
            <a:r>
              <a:rPr lang="en-US" dirty="0">
                <a:solidFill>
                  <a:schemeClr val="bg1"/>
                </a:solidFill>
              </a:rPr>
              <a:t> processes as evenly as possible.</a:t>
            </a:r>
            <a:endParaRPr lang="en-US" sz="1400" dirty="0">
              <a:solidFill>
                <a:schemeClr val="bg1"/>
              </a:solidFill>
            </a:endParaRPr>
          </a:p>
          <a:p>
            <a:br>
              <a:rPr lang="en-US" sz="1400" dirty="0">
                <a:solidFill>
                  <a:schemeClr val="bg1"/>
                </a:solidFill>
              </a:rPr>
            </a:br>
            <a:endParaRPr 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7002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parallel_compute — Pseudo-code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3977640"/>
          </a:xfrm>
          <a:prstGeom prst="rect">
            <a:avLst/>
          </a:prstGeom>
          <a:solidFill>
            <a:srgbClr val="111D2A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82296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</a:t>
            </a:r>
            <a:r>
              <a:rPr lang="en-US" sz="115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parallel_compute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(filepath, n_proc, f):
    nums 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read_numbers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(filepath)
    chunk ← len(nums) / n_proc
    remainder ← len(nums) % n_proc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0 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n_proc - 1 :
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 ctrl_pipe[i], res_pipe[i]
        fork child i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 :
            start, end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8B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(ctrl_pipe[i])      // receive slice bounds
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partial ← sequential_compute(nums[start..end], f)
           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(res_pipe[i], partial) ; exit()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(parent) :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(ctrl_pipe[i], start, end)
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wait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for all children
    result ←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(res_pipe[0])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 TO n_proc-1 : result ← f(result, </a:t>
            </a:r>
            <a:r>
              <a:rPr lang="en-US" sz="11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(res_pipe[i]))
</a:t>
            </a:r>
            <a:r>
              <a:rPr lang="en-US" sz="115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150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Correctness Examples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850392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91440" cy="1188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03327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 [1, 2, 3, 4, 5]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3441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Sequential: add(add(add(add(1,2),3),4),5) = 15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58191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(n_proc=2):  child 0: [1,2] → 3   |   child 1: [3,4,5] → 12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81965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f(3, 12) = 15 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286000"/>
            <a:ext cx="850392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" y="2286000"/>
            <a:ext cx="91440" cy="1188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3591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 [10, 20, 30]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67004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Sequential: multiply(multiply(10,20),30) = 6000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290779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(n_proc=2):  child 0: [10,20] → 200   |   child 1: [30]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14553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f(200, 30) = 6000 ✓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3611880"/>
            <a:ext cx="850392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3611880"/>
            <a:ext cx="91440" cy="1188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368503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 [1, 2, 3, 4, 5, 6, 7]  — N not divisible by n_proc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39959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Sequential: n_proc=3, chunk=2, remainder=1 = 28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23367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 (n_proc=3):  child 0: [1,2]→3  child 1:[3,4]→7  child 2:[5,6,7]→18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47141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AF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f(f(3,7),18) = 28 ✓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6D815-5D5E-1326-7230-EB89FB5F9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DAEB403-7BDB-A7F5-6719-DDA4B30562FF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287DF7-EFF4-ECF7-8D34-6824EB6F75A1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Correctness Examples</a:t>
            </a:r>
            <a:endParaRPr lang="en-US" sz="24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C03D163-250C-28D4-E96B-45AE195E0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652" y="1021387"/>
            <a:ext cx="7668695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140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44AFA5-8EE0-A028-A439-1A4E2263D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551054D-051B-6A31-9950-11EE85ED8696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27FC8DD-39A6-010C-3656-A9FC7AC0BD28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Correctness Examples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99DC7B-A630-46BE-33DE-717EA012A1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140"/>
          <a:stretch>
            <a:fillRect/>
          </a:stretch>
        </p:blipFill>
        <p:spPr>
          <a:xfrm>
            <a:off x="428046" y="1516482"/>
            <a:ext cx="8287907" cy="2492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697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Pipe Architecture in parallel_compute</a:t>
            </a:r>
            <a:endParaRPr lang="en-US" sz="2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6FB33F3-B83D-3436-A0ED-FE1F4AAA8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256" y="1053172"/>
            <a:ext cx="6761488" cy="38371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FA21E2-1046-7FA2-8246-CFB94840E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D749B1D-256A-76D7-03DF-8AE70DF45CC7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19B8B39-3BA3-DDD2-4BD3-E46BD00C5C82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Notes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CCECDBB-F70B-0719-1ABF-CCDF10737BC3}"/>
              </a:ext>
            </a:extLst>
          </p:cNvPr>
          <p:cNvSpPr/>
          <p:nvPr/>
        </p:nvSpPr>
        <p:spPr>
          <a:xfrm>
            <a:off x="320040" y="960120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775E804-C5B3-6913-8EDC-D7F1BF3419FB}"/>
              </a:ext>
            </a:extLst>
          </p:cNvPr>
          <p:cNvSpPr/>
          <p:nvPr/>
        </p:nvSpPr>
        <p:spPr>
          <a:xfrm>
            <a:off x="320040" y="960120"/>
            <a:ext cx="91440" cy="1188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76A80D8-09EA-BAA2-074A-8E0D234D23DD}"/>
              </a:ext>
            </a:extLst>
          </p:cNvPr>
          <p:cNvSpPr/>
          <p:nvPr/>
        </p:nvSpPr>
        <p:spPr>
          <a:xfrm>
            <a:off x="5486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pipes / child</a:t>
            </a:r>
            <a:endParaRPr lang="en-US" sz="13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195BF35-3650-20D0-352D-90B7DA8DB593}"/>
              </a:ext>
            </a:extLst>
          </p:cNvPr>
          <p:cNvSpPr/>
          <p:nvPr/>
        </p:nvSpPr>
        <p:spPr>
          <a:xfrm>
            <a:off x="548640" y="13716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ctrl_pipe sends (start, end) from parent to child.  res_pipe returns the partial result from child to parent.</a:t>
            </a:r>
            <a:endParaRPr lang="en-US" sz="12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F6564E5-8804-9B54-173B-A1A4F3B2E014}"/>
              </a:ext>
            </a:extLst>
          </p:cNvPr>
          <p:cNvSpPr/>
          <p:nvPr/>
        </p:nvSpPr>
        <p:spPr>
          <a:xfrm>
            <a:off x="320040" y="2304288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3F91F43-85F9-F5A1-7181-A65D527BCFF4}"/>
              </a:ext>
            </a:extLst>
          </p:cNvPr>
          <p:cNvSpPr/>
          <p:nvPr/>
        </p:nvSpPr>
        <p:spPr>
          <a:xfrm>
            <a:off x="320040" y="2304288"/>
            <a:ext cx="91440" cy="118872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6C9B319-AE18-D306-027A-E73F14565469}"/>
              </a:ext>
            </a:extLst>
          </p:cNvPr>
          <p:cNvSpPr/>
          <p:nvPr/>
        </p:nvSpPr>
        <p:spPr>
          <a:xfrm>
            <a:off x="548640" y="23957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 rule</a:t>
            </a:r>
            <a:endParaRPr lang="en-US" sz="13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708B523-001B-5DB5-6261-88CFAF183344}"/>
              </a:ext>
            </a:extLst>
          </p:cNvPr>
          <p:cNvSpPr/>
          <p:nvPr/>
        </p:nvSpPr>
        <p:spPr>
          <a:xfrm>
            <a:off x="548640" y="2715768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 % n_proc ≠ 0, the extra numbers all go to the last child.  Example: 7 numbers, 3 processes → child 2 gets [5,6,7].</a:t>
            </a:r>
            <a:endParaRPr lang="en-US" sz="12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CFBCDCE-1A0A-CAD4-AF1F-C15BA78954F2}"/>
              </a:ext>
            </a:extLst>
          </p:cNvPr>
          <p:cNvSpPr/>
          <p:nvPr/>
        </p:nvSpPr>
        <p:spPr>
          <a:xfrm>
            <a:off x="320040" y="3648456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4F076498-2024-6A73-764E-22EBCCE98CDC}"/>
              </a:ext>
            </a:extLst>
          </p:cNvPr>
          <p:cNvSpPr/>
          <p:nvPr/>
        </p:nvSpPr>
        <p:spPr>
          <a:xfrm>
            <a:off x="320040" y="3648456"/>
            <a:ext cx="91440" cy="118872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35BD9B0-DEB6-BFF6-2E72-4C627AFCB2F7}"/>
              </a:ext>
            </a:extLst>
          </p:cNvPr>
          <p:cNvSpPr/>
          <p:nvPr/>
        </p:nvSpPr>
        <p:spPr>
          <a:xfrm>
            <a:off x="548640" y="37398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unused ends</a:t>
            </a:r>
            <a:endParaRPr lang="en-US" sz="13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AAE4287-19F7-BA19-F50B-37FC84763863}"/>
              </a:ext>
            </a:extLst>
          </p:cNvPr>
          <p:cNvSpPr/>
          <p:nvPr/>
        </p:nvSpPr>
        <p:spPr>
          <a:xfrm>
            <a:off x="548640" y="4059936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process must close the pipe ends it does not use. </a:t>
            </a:r>
            <a:endParaRPr lang="en-US" sz="12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E6125BAA-79F3-17A5-D5D4-15616C80FC26}"/>
              </a:ext>
            </a:extLst>
          </p:cNvPr>
          <p:cNvSpPr/>
          <p:nvPr/>
        </p:nvSpPr>
        <p:spPr>
          <a:xfrm>
            <a:off x="4754880" y="960120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33AA571-3E4E-AA14-61EA-4C49FD9F8483}"/>
              </a:ext>
            </a:extLst>
          </p:cNvPr>
          <p:cNvSpPr/>
          <p:nvPr/>
        </p:nvSpPr>
        <p:spPr>
          <a:xfrm>
            <a:off x="4754880" y="960120"/>
            <a:ext cx="91440" cy="1188720"/>
          </a:xfrm>
          <a:prstGeom prst="rect">
            <a:avLst/>
          </a:prstGeom>
          <a:solidFill>
            <a:srgbClr val="4CAF86"/>
          </a:solidFill>
          <a:ln w="12700">
            <a:solidFill>
              <a:srgbClr val="4CAF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DA09737-9C3C-04FE-E606-49317C631556}"/>
              </a:ext>
            </a:extLst>
          </p:cNvPr>
          <p:cNvSpPr/>
          <p:nvPr/>
        </p:nvSpPr>
        <p:spPr>
          <a:xfrm>
            <a:off x="498348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AF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wait() first</a:t>
            </a:r>
            <a:endParaRPr lang="en-US" sz="13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040AEB-5A59-59F8-4B27-D0EB5CD53344}"/>
              </a:ext>
            </a:extLst>
          </p:cNvPr>
          <p:cNvSpPr/>
          <p:nvPr/>
        </p:nvSpPr>
        <p:spPr>
          <a:xfrm>
            <a:off x="4983480" y="1371600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calls wait() for ALL children before reading any result pipe, ensuring partial results are fully written.</a:t>
            </a:r>
            <a:endParaRPr lang="en-US" sz="12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65AC162-A8B1-98B4-F6D8-B73490934430}"/>
              </a:ext>
            </a:extLst>
          </p:cNvPr>
          <p:cNvSpPr/>
          <p:nvPr/>
        </p:nvSpPr>
        <p:spPr>
          <a:xfrm>
            <a:off x="4754880" y="2304288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6C69E062-F78C-368F-D16D-40A5D424A13B}"/>
              </a:ext>
            </a:extLst>
          </p:cNvPr>
          <p:cNvSpPr/>
          <p:nvPr/>
        </p:nvSpPr>
        <p:spPr>
          <a:xfrm>
            <a:off x="4754880" y="2304288"/>
            <a:ext cx="91440" cy="11887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4A5C60D-DD51-DCD7-812E-BBD11F3ADF1C}"/>
              </a:ext>
            </a:extLst>
          </p:cNvPr>
          <p:cNvSpPr/>
          <p:nvPr/>
        </p:nvSpPr>
        <p:spPr>
          <a:xfrm>
            <a:off x="4983480" y="23957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is generic</a:t>
            </a:r>
            <a:endParaRPr lang="en-US" sz="13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186A01F-AF4E-019B-DEE7-2DCA20D58BF3}"/>
              </a:ext>
            </a:extLst>
          </p:cNvPr>
          <p:cNvSpPr/>
          <p:nvPr/>
        </p:nvSpPr>
        <p:spPr>
          <a:xfrm>
            <a:off x="4983480" y="2715768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aggregates partial results using f, not +.  Works correctly for add, multiply, max</a:t>
            </a:r>
            <a:endParaRPr lang="en-US" sz="12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2C8755F9-BDA3-42EA-4E22-AEA3816A8CB4}"/>
              </a:ext>
            </a:extLst>
          </p:cNvPr>
          <p:cNvSpPr/>
          <p:nvPr/>
        </p:nvSpPr>
        <p:spPr>
          <a:xfrm>
            <a:off x="4754880" y="3648456"/>
            <a:ext cx="4114800" cy="1188720"/>
          </a:xfrm>
          <a:prstGeom prst="rect">
            <a:avLst/>
          </a:prstGeom>
          <a:solidFill>
            <a:srgbClr val="1C2E3E"/>
          </a:solidFill>
          <a:ln w="12700">
            <a:solidFill>
              <a:srgbClr val="3D5166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15FE3D2-75FB-EEE3-D516-C15D61F1771D}"/>
              </a:ext>
            </a:extLst>
          </p:cNvPr>
          <p:cNvSpPr/>
          <p:nvPr/>
        </p:nvSpPr>
        <p:spPr>
          <a:xfrm>
            <a:off x="4754880" y="3648456"/>
            <a:ext cx="91440" cy="1188720"/>
          </a:xfrm>
          <a:prstGeom prst="rect">
            <a:avLst/>
          </a:prstGeom>
          <a:solidFill>
            <a:srgbClr val="8BA3B8"/>
          </a:solidFill>
          <a:ln w="12700">
            <a:solidFill>
              <a:srgbClr val="8B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6780ED96-12DA-C07A-6C89-B64CEF4C64C3}"/>
              </a:ext>
            </a:extLst>
          </p:cNvPr>
          <p:cNvSpPr/>
          <p:nvPr/>
        </p:nvSpPr>
        <p:spPr>
          <a:xfrm>
            <a:off x="4983480" y="37398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</a:t>
            </a:r>
            <a:endParaRPr lang="en-US" sz="13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312E6A5-4CFE-6F2C-D265-8DD7618BCA90}"/>
              </a:ext>
            </a:extLst>
          </p:cNvPr>
          <p:cNvSpPr/>
          <p:nvPr/>
        </p:nvSpPr>
        <p:spPr>
          <a:xfrm>
            <a:off x="4983480" y="4059936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 handles both newline-separated and comma-separated numbers using strtok with delimiters ",\n\r ".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133923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chemeClr val="bg1"/>
                </a:solidFill>
              </a:rPr>
              <a:t>Deploying Sequential &amp; Parallel Compute on xv6</a:t>
            </a:r>
            <a:endParaRPr lang="en-US" sz="2600" b="1" dirty="0">
              <a:solidFill>
                <a:schemeClr val="bg1"/>
              </a:solidFill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DA032EC-68A5-FE7D-1924-9B661702C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093" y="1099410"/>
            <a:ext cx="5945813" cy="36203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69C803-E2F2-4305-8B3C-5D30DC9E0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3AA13B1-8D50-83E4-7F6E-9244BCC17408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DFE2C97-2E76-F8BB-D977-02C9BBA6AA6C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chemeClr val="bg1"/>
                </a:solidFill>
              </a:rPr>
              <a:t>Deploying Sequential &amp; Parallel Compute on xv6</a:t>
            </a:r>
            <a:endParaRPr lang="en-US" sz="2600" b="1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FC9F79-ECB5-ECAD-0AE8-0418192513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590"/>
          <a:stretch>
            <a:fillRect/>
          </a:stretch>
        </p:blipFill>
        <p:spPr>
          <a:xfrm>
            <a:off x="1507658" y="1169884"/>
            <a:ext cx="6128684" cy="3444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38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D76311-9DB7-2FB1-8A44-4953FB858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ACC57BE-9656-C485-58A0-EDB4416757C6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1835CAC-E53B-EC74-3EA6-D53A1DCDF48E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chemeClr val="bg1"/>
                </a:solidFill>
              </a:rPr>
              <a:t>Deploying Sequential &amp; Parallel Compute on xv6</a:t>
            </a:r>
            <a:endParaRPr lang="en-US" sz="2600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905D84-10E3-BC12-8D98-E7700B465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406" y="2520607"/>
            <a:ext cx="7731188" cy="1227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9DA160-5AF7-CC00-FC36-940086BE0676}"/>
              </a:ext>
            </a:extLst>
          </p:cNvPr>
          <p:cNvSpPr txBox="1"/>
          <p:nvPr/>
        </p:nvSpPr>
        <p:spPr>
          <a:xfrm>
            <a:off x="706406" y="1475291"/>
            <a:ext cx="45790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Result:</a:t>
            </a:r>
          </a:p>
        </p:txBody>
      </p:sp>
    </p:spTree>
    <p:extLst>
      <p:ext uri="{BB962C8B-B14F-4D97-AF65-F5344CB8AC3E}">
        <p14:creationId xmlns:p14="http://schemas.microsoft.com/office/powerpoint/2010/main" val="82514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0334C7-78AC-D6A1-6B86-05C3641B4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B115F0-F90C-7DD0-3B03-5AADE8A8BFB5}"/>
              </a:ext>
            </a:extLst>
          </p:cNvPr>
          <p:cNvSpPr/>
          <p:nvPr/>
        </p:nvSpPr>
        <p:spPr>
          <a:xfrm>
            <a:off x="0" y="2163536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339E7A-F17F-17D8-ABDE-5D9C86FC5E04}"/>
              </a:ext>
            </a:extLst>
          </p:cNvPr>
          <p:cNvSpPr/>
          <p:nvPr/>
        </p:nvSpPr>
        <p:spPr>
          <a:xfrm>
            <a:off x="316775" y="2197009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Comparisons Tests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8905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59805-ED48-DB27-3F3A-EBDC7779A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27233C-9DA5-E073-41A7-C7DB1A65A735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F269DBF-390E-B4A4-ADE6-C1226B14A2FF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Design and Chosen Ranges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803A90-C91D-5CD2-99BA-B1E35AAF18FD}"/>
              </a:ext>
            </a:extLst>
          </p:cNvPr>
          <p:cNvSpPr txBox="1"/>
          <p:nvPr/>
        </p:nvSpPr>
        <p:spPr>
          <a:xfrm>
            <a:off x="419450" y="1027651"/>
            <a:ext cx="426580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Test 1:</a:t>
            </a:r>
          </a:p>
          <a:p>
            <a:r>
              <a:rPr lang="en-US" dirty="0"/>
              <a:t>The number of processes fixed for the test was </a:t>
            </a:r>
            <a:r>
              <a:rPr lang="en-US" dirty="0">
                <a:solidFill>
                  <a:srgbClr val="00B050"/>
                </a:solidFill>
              </a:rPr>
              <a:t>9</a:t>
            </a:r>
            <a:r>
              <a:rPr lang="en-US" dirty="0"/>
              <a:t> as this was the number of idle processes at the time of testing.</a:t>
            </a:r>
          </a:p>
          <a:p>
            <a:r>
              <a:rPr lang="en-US" dirty="0">
                <a:solidFill>
                  <a:srgbClr val="00B050"/>
                </a:solidFill>
              </a:rPr>
              <a:t>100</a:t>
            </a:r>
            <a:r>
              <a:rPr lang="en-US" dirty="0"/>
              <a:t> Readings were conducted going by increments of </a:t>
            </a:r>
            <a:r>
              <a:rPr lang="en-US" dirty="0">
                <a:solidFill>
                  <a:srgbClr val="00B050"/>
                </a:solidFill>
              </a:rPr>
              <a:t>20,000 </a:t>
            </a:r>
            <a:r>
              <a:rPr lang="en-US" dirty="0"/>
              <a:t>for </a:t>
            </a:r>
            <a:r>
              <a:rPr lang="en-US" dirty="0">
                <a:solidFill>
                  <a:srgbClr val="00B050"/>
                </a:solidFill>
              </a:rPr>
              <a:t>N</a:t>
            </a:r>
            <a:r>
              <a:rPr lang="en-US" dirty="0"/>
              <a:t>. (Range: </a:t>
            </a:r>
            <a:r>
              <a:rPr lang="en-US" dirty="0">
                <a:solidFill>
                  <a:srgbClr val="00B050"/>
                </a:solidFill>
              </a:rPr>
              <a:t>20k</a:t>
            </a:r>
            <a:r>
              <a:rPr lang="en-US" dirty="0"/>
              <a:t> to </a:t>
            </a:r>
            <a:r>
              <a:rPr lang="en-US" dirty="0">
                <a:solidFill>
                  <a:srgbClr val="00B050"/>
                </a:solidFill>
              </a:rPr>
              <a:t>2M</a:t>
            </a:r>
            <a:r>
              <a:rPr lang="en-US" dirty="0"/>
              <a:t>)</a:t>
            </a:r>
          </a:p>
          <a:p>
            <a:endParaRPr lang="en-US" dirty="0">
              <a:solidFill>
                <a:srgbClr val="00B050"/>
              </a:solidFill>
            </a:endParaRPr>
          </a:p>
          <a:p>
            <a:r>
              <a:rPr lang="en-US" b="1" dirty="0"/>
              <a:t>Test 2:</a:t>
            </a:r>
          </a:p>
          <a:p>
            <a:r>
              <a:rPr lang="en-US" dirty="0"/>
              <a:t>The parameter </a:t>
            </a:r>
            <a:r>
              <a:rPr lang="en-US" dirty="0" err="1">
                <a:solidFill>
                  <a:srgbClr val="00B050"/>
                </a:solidFill>
              </a:rPr>
              <a:t>n_proc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was iterated from </a:t>
            </a:r>
            <a:r>
              <a:rPr lang="en-US" dirty="0">
                <a:solidFill>
                  <a:srgbClr val="00B050"/>
                </a:solidFill>
              </a:rPr>
              <a:t>1</a:t>
            </a:r>
            <a:r>
              <a:rPr lang="en-US" dirty="0"/>
              <a:t> to </a:t>
            </a:r>
            <a:r>
              <a:rPr lang="en-US" dirty="0">
                <a:solidFill>
                  <a:srgbClr val="00B050"/>
                </a:solidFill>
              </a:rPr>
              <a:t>24</a:t>
            </a:r>
            <a:r>
              <a:rPr lang="en-US" dirty="0"/>
              <a:t> to significantly exceed the number of logical processors of the machine which is </a:t>
            </a:r>
            <a:r>
              <a:rPr lang="en-US" dirty="0">
                <a:solidFill>
                  <a:srgbClr val="00B050"/>
                </a:solidFill>
              </a:rPr>
              <a:t>16</a:t>
            </a:r>
            <a:r>
              <a:rPr lang="en-US" dirty="0"/>
              <a:t>. Here, </a:t>
            </a:r>
            <a:r>
              <a:rPr lang="en-US" dirty="0">
                <a:solidFill>
                  <a:srgbClr val="00B050"/>
                </a:solidFill>
              </a:rPr>
              <a:t>N</a:t>
            </a:r>
            <a:r>
              <a:rPr lang="en-US" dirty="0"/>
              <a:t> is fixed to </a:t>
            </a:r>
            <a:r>
              <a:rPr lang="en-US" dirty="0">
                <a:solidFill>
                  <a:srgbClr val="00B050"/>
                </a:solidFill>
              </a:rPr>
              <a:t>2,000,000</a:t>
            </a:r>
            <a:r>
              <a:rPr lang="en-US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4B09E5-46C6-EF88-FD44-9F9843DE22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81" t="6474" b="8932"/>
          <a:stretch>
            <a:fillRect/>
          </a:stretch>
        </p:blipFill>
        <p:spPr>
          <a:xfrm>
            <a:off x="5777671" y="885040"/>
            <a:ext cx="3199411" cy="22524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F8CAA4-0BB7-E523-064F-D59C10526090}"/>
              </a:ext>
            </a:extLst>
          </p:cNvPr>
          <p:cNvSpPr txBox="1"/>
          <p:nvPr/>
        </p:nvSpPr>
        <p:spPr>
          <a:xfrm>
            <a:off x="5777671" y="3245284"/>
            <a:ext cx="30829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For test 1, the range kept adjusting till reaching this range that showed a clear winner between the 2 functions.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FCA52E-3B11-5AA2-4409-DA1D68250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7671" y="4258460"/>
            <a:ext cx="3082955" cy="515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906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294C2-C145-A10C-63B9-C0F5A0C5B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8D7D0A-3B9A-501A-CF0E-825216CCCED6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590B563-796D-A3B3-4B51-2BE9262A2194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Smoothing Techniques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F4E455-ADF0-D2A1-27C5-97F201EA1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009" y="3846063"/>
            <a:ext cx="3619526" cy="3048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871855-2C7F-4EBE-AB7C-AA13AD6CA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910" y="2008673"/>
            <a:ext cx="3493379" cy="5949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124B31-5519-0B8A-6BD3-F8F660B9D1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9496" y="3112195"/>
            <a:ext cx="4620199" cy="10987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1153B54-E528-805F-5D07-EAA828F4B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009" y="4363368"/>
            <a:ext cx="2321183" cy="30480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9FDEF69-BA27-C262-86B2-681849B8BE6E}"/>
              </a:ext>
            </a:extLst>
          </p:cNvPr>
          <p:cNvSpPr txBox="1"/>
          <p:nvPr/>
        </p:nvSpPr>
        <p:spPr>
          <a:xfrm>
            <a:off x="245921" y="992635"/>
            <a:ext cx="44720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Smoothing was done by repeating the experiment an odd number of times for each N/</a:t>
            </a:r>
            <a:r>
              <a:rPr lang="en-US" dirty="0" err="1"/>
              <a:t>n_proc</a:t>
            </a:r>
            <a:r>
              <a:rPr lang="en-US" dirty="0"/>
              <a:t>, then taking the </a:t>
            </a:r>
            <a:r>
              <a:rPr lang="en-US" dirty="0">
                <a:solidFill>
                  <a:srgbClr val="00B050"/>
                </a:solidFill>
              </a:rPr>
              <a:t>median</a:t>
            </a:r>
            <a:r>
              <a:rPr lang="en-US" dirty="0"/>
              <a:t> value by sorting.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3306F30-D9F7-8FC7-6D11-D8F18B4A1B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3515" y="1058693"/>
            <a:ext cx="3619527" cy="66966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EF1FEC-0012-C5DB-BE41-42B36B74F72B}"/>
              </a:ext>
            </a:extLst>
          </p:cNvPr>
          <p:cNvSpPr txBox="1"/>
          <p:nvPr/>
        </p:nvSpPr>
        <p:spPr>
          <a:xfrm>
            <a:off x="260970" y="2265027"/>
            <a:ext cx="30955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experiment was repeated </a:t>
            </a:r>
            <a:r>
              <a:rPr lang="en-US" dirty="0">
                <a:solidFill>
                  <a:srgbClr val="00B050"/>
                </a:solidFill>
              </a:rPr>
              <a:t>7</a:t>
            </a:r>
            <a:r>
              <a:rPr lang="en-US" dirty="0"/>
              <a:t> times for each </a:t>
            </a:r>
            <a:r>
              <a:rPr lang="en-US" dirty="0">
                <a:solidFill>
                  <a:srgbClr val="00B050"/>
                </a:solidFill>
              </a:rPr>
              <a:t>N</a:t>
            </a:r>
            <a:r>
              <a:rPr lang="en-US" dirty="0"/>
              <a:t> in </a:t>
            </a:r>
            <a:r>
              <a:rPr lang="en-US" u="sng" dirty="0"/>
              <a:t>test 1</a:t>
            </a:r>
            <a:r>
              <a:rPr lang="en-US" dirty="0"/>
              <a:t> and </a:t>
            </a:r>
            <a:r>
              <a:rPr lang="en-US" dirty="0">
                <a:solidFill>
                  <a:srgbClr val="00B050"/>
                </a:solidFill>
              </a:rPr>
              <a:t>23</a:t>
            </a:r>
            <a:r>
              <a:rPr lang="en-US" dirty="0"/>
              <a:t> times for each </a:t>
            </a:r>
            <a:r>
              <a:rPr lang="en-US" dirty="0" err="1">
                <a:solidFill>
                  <a:srgbClr val="00B050"/>
                </a:solidFill>
              </a:rPr>
              <a:t>n_proc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in </a:t>
            </a:r>
            <a:r>
              <a:rPr lang="en-US" u="sng" dirty="0"/>
              <a:t>test 2</a:t>
            </a:r>
            <a:r>
              <a:rPr lang="en-US" dirty="0"/>
              <a:t> as it had a relatively small number of iterations.</a:t>
            </a:r>
          </a:p>
        </p:txBody>
      </p:sp>
    </p:spTree>
    <p:extLst>
      <p:ext uri="{BB962C8B-B14F-4D97-AF65-F5344CB8AC3E}">
        <p14:creationId xmlns:p14="http://schemas.microsoft.com/office/powerpoint/2010/main" val="34295897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5CC0B-31F5-A0B9-CCA3-FFAEE259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013C8F-728B-C367-E451-D743E8E33854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2F80BE0-3437-EEAA-A5DD-1A994ACF8286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1)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8F6A4A-6586-484F-3404-82620BA489AE}"/>
              </a:ext>
            </a:extLst>
          </p:cNvPr>
          <p:cNvSpPr txBox="1"/>
          <p:nvPr/>
        </p:nvSpPr>
        <p:spPr>
          <a:xfrm>
            <a:off x="178690" y="1160360"/>
            <a:ext cx="4578290" cy="23775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i="0" dirty="0">
                <a:solidFill>
                  <a:srgbClr val="273540"/>
                </a:solidFill>
                <a:effectLst/>
                <a:latin typeface="Lato Extended"/>
              </a:rPr>
              <a:t>Question: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If we fix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n_proc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, then at which value of N does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parallel_compute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outperform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sequential_compute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?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dirty="0">
                <a:solidFill>
                  <a:srgbClr val="273540"/>
                </a:solidFill>
                <a:latin typeface="Lato Extended"/>
              </a:rPr>
              <a:t>Answer: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It starts </a:t>
            </a:r>
            <a:r>
              <a:rPr lang="en-US" i="1" dirty="0">
                <a:solidFill>
                  <a:srgbClr val="273540"/>
                </a:solidFill>
                <a:latin typeface="Lato Extended"/>
              </a:rPr>
              <a:t>consistently 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outperforming at N = 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1,280,000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.</a:t>
            </a:r>
            <a:endParaRPr lang="en-US" b="0" i="0" dirty="0">
              <a:solidFill>
                <a:srgbClr val="273540"/>
              </a:solidFill>
              <a:effectLst/>
              <a:latin typeface="Lato Extended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720FC1-56C3-64AE-BB91-9D708BED2264}"/>
              </a:ext>
            </a:extLst>
          </p:cNvPr>
          <p:cNvSpPr txBox="1"/>
          <p:nvPr/>
        </p:nvSpPr>
        <p:spPr>
          <a:xfrm>
            <a:off x="365760" y="3102671"/>
            <a:ext cx="30829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parallel_compute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starts outperforming at large values of N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81A4C7CA-A120-30D7-79ED-B8879F9E688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4793857"/>
              </p:ext>
            </p:extLst>
          </p:nvPr>
        </p:nvGraphicFramePr>
        <p:xfrm>
          <a:off x="4381501" y="927908"/>
          <a:ext cx="4628713" cy="32277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51093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AB153-CB4F-2DC1-4C4F-8603CC7E0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E885F72-F7A5-9475-95C5-2D754324601E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BC26B48-2911-5A21-1EDA-A1A90F03456E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2)</a:t>
            </a:r>
            <a:endParaRPr lang="en-US" sz="24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4A40FE1F-C2E9-2977-9479-7D5172A62DDE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FB4FCC26-0227-B1D4-8EBE-D6CF080F430B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2)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2E74A-FCF0-6C62-DFDC-B504535CF19A}"/>
              </a:ext>
            </a:extLst>
          </p:cNvPr>
          <p:cNvSpPr txBox="1"/>
          <p:nvPr/>
        </p:nvSpPr>
        <p:spPr>
          <a:xfrm>
            <a:off x="178690" y="1160360"/>
            <a:ext cx="4363949" cy="2654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i="0" dirty="0">
                <a:solidFill>
                  <a:srgbClr val="273540"/>
                </a:solidFill>
                <a:effectLst/>
                <a:latin typeface="Lato Extended"/>
              </a:rPr>
              <a:t>Question: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If we fix N to a large number, then at which value of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n_proc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does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parallel_compute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 outperform </a:t>
            </a:r>
            <a:r>
              <a:rPr lang="en-US" b="0" i="0" dirty="0" err="1">
                <a:solidFill>
                  <a:srgbClr val="273540"/>
                </a:solidFill>
                <a:effectLst/>
                <a:latin typeface="Lato Extended"/>
              </a:rPr>
              <a:t>sequential_compute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?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b="1" dirty="0">
                <a:solidFill>
                  <a:srgbClr val="273540"/>
                </a:solidFill>
                <a:latin typeface="Lato Extended"/>
              </a:rPr>
              <a:t>Answer: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It starts outperforming at </a:t>
            </a:r>
            <a:r>
              <a:rPr lang="en-US" dirty="0" err="1">
                <a:solidFill>
                  <a:srgbClr val="273540"/>
                </a:solidFill>
                <a:latin typeface="Lato Extended"/>
              </a:rPr>
              <a:t>n_proc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 = 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6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.</a:t>
            </a:r>
            <a:endParaRPr lang="en-US" b="0" i="0" dirty="0">
              <a:solidFill>
                <a:srgbClr val="273540"/>
              </a:solidFill>
              <a:effectLst/>
              <a:latin typeface="Lato Extended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1C3888B-5565-FCF8-6E65-EB24D7FEC6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4773173"/>
              </p:ext>
            </p:extLst>
          </p:nvPr>
        </p:nvGraphicFramePr>
        <p:xfrm>
          <a:off x="4756980" y="979742"/>
          <a:ext cx="4202884" cy="26545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CCCD450-6E67-E17A-35C2-1ABEC6C4026A}"/>
              </a:ext>
            </a:extLst>
          </p:cNvPr>
          <p:cNvSpPr txBox="1"/>
          <p:nvPr/>
        </p:nvSpPr>
        <p:spPr>
          <a:xfrm>
            <a:off x="404523" y="3337879"/>
            <a:ext cx="308295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Note: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parallel_compute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outperforms as long using extra processors compensate the fork and pipe operations overhead, but starts underperforming when </a:t>
            </a:r>
            <a:r>
              <a:rPr lang="en-US" sz="1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n_proc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exceeds idle processors</a:t>
            </a:r>
          </a:p>
        </p:txBody>
      </p:sp>
    </p:spTree>
    <p:extLst>
      <p:ext uri="{BB962C8B-B14F-4D97-AF65-F5344CB8AC3E}">
        <p14:creationId xmlns:p14="http://schemas.microsoft.com/office/powerpoint/2010/main" val="336461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73491F-CD15-B4EE-DB4D-CF6CD1AEB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5AE707F-7E8B-F62B-FC3F-7ADFA06FF173}"/>
              </a:ext>
            </a:extLst>
          </p:cNvPr>
          <p:cNvSpPr/>
          <p:nvPr/>
        </p:nvSpPr>
        <p:spPr>
          <a:xfrm>
            <a:off x="0" y="2163536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F5879FC-6A57-4981-01DF-F0EDF5371CFB}"/>
              </a:ext>
            </a:extLst>
          </p:cNvPr>
          <p:cNvSpPr/>
          <p:nvPr/>
        </p:nvSpPr>
        <p:spPr>
          <a:xfrm>
            <a:off x="316775" y="2197009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9803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46AA-90A5-52C3-AAB5-4ECE401DA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9819C93-A00C-B0C8-9858-A5832E8634F0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38C9ED3-1196-84CB-46AC-10465F93409A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2)</a:t>
            </a:r>
            <a:endParaRPr lang="en-US" sz="24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7CC4C1F6-D2DB-9407-C5F4-BA776DE61BD2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3640860-E5C3-C1AA-4467-A7FE02C595D4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experiment_1 and experiment_2 to xv6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D7B18E-A1D1-4E8C-964B-B82BD1841264}"/>
              </a:ext>
            </a:extLst>
          </p:cNvPr>
          <p:cNvSpPr txBox="1"/>
          <p:nvPr/>
        </p:nvSpPr>
        <p:spPr>
          <a:xfrm>
            <a:off x="220437" y="977585"/>
            <a:ext cx="4578122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600" b="1" i="0" dirty="0">
                <a:solidFill>
                  <a:srgbClr val="273540"/>
                </a:solidFill>
                <a:effectLst/>
                <a:latin typeface="Lato Extended"/>
              </a:rPr>
              <a:t>Edits made:</a:t>
            </a:r>
            <a:r>
              <a:rPr lang="en-US" sz="1600" b="0" i="0" dirty="0">
                <a:solidFill>
                  <a:srgbClr val="273540"/>
                </a:solidFill>
                <a:effectLst/>
                <a:latin typeface="Lato Extended"/>
              </a:rPr>
              <a:t> </a:t>
            </a:r>
          </a:p>
          <a:p>
            <a:pPr marL="285750" indent="-285750" algn="l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73540"/>
                </a:solidFill>
                <a:latin typeface="Lato Extended"/>
              </a:rPr>
              <a:t>Implementing manual sort for finding median</a:t>
            </a:r>
          </a:p>
          <a:p>
            <a:pPr marL="285750" indent="-285750" algn="l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73540"/>
                </a:solidFill>
                <a:latin typeface="Lato Extended"/>
              </a:rPr>
              <a:t>Writing integers as strings of characters to the file</a:t>
            </a:r>
          </a:p>
          <a:p>
            <a:pPr marL="285750" indent="-285750" algn="l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273540"/>
                </a:solidFill>
                <a:effectLst/>
                <a:latin typeface="Lato Extended"/>
              </a:rPr>
              <a:t>Decrease </a:t>
            </a:r>
            <a:r>
              <a:rPr lang="en-US" sz="1600" b="0" i="0" dirty="0" err="1">
                <a:solidFill>
                  <a:srgbClr val="273540"/>
                </a:solidFill>
                <a:effectLst/>
                <a:latin typeface="Lato Extended"/>
              </a:rPr>
              <a:t>n_proc</a:t>
            </a:r>
            <a:r>
              <a:rPr lang="en-US" sz="1600" b="0" i="0" dirty="0">
                <a:solidFill>
                  <a:srgbClr val="273540"/>
                </a:solidFill>
                <a:effectLst/>
                <a:latin typeface="Lato Extended"/>
              </a:rPr>
              <a:t> in test 1 to </a:t>
            </a:r>
            <a:r>
              <a:rPr lang="en-US" sz="1600" b="0" i="0" dirty="0">
                <a:solidFill>
                  <a:srgbClr val="00B050"/>
                </a:solidFill>
                <a:effectLst/>
                <a:latin typeface="Lato Extended"/>
              </a:rPr>
              <a:t>6</a:t>
            </a:r>
            <a:r>
              <a:rPr lang="en-US" sz="1600" b="0" i="0" dirty="0">
                <a:solidFill>
                  <a:srgbClr val="273540"/>
                </a:solidFill>
                <a:effectLst/>
                <a:latin typeface="Lato Extended"/>
              </a:rPr>
              <a:t> as maximum CPUs is 8 (we shouldn’t use them all as there are still </a:t>
            </a:r>
            <a:r>
              <a:rPr lang="en-US" sz="1600" b="0" i="0" dirty="0" err="1">
                <a:solidFill>
                  <a:srgbClr val="273540"/>
                </a:solidFill>
                <a:effectLst/>
                <a:latin typeface="Lato Extended"/>
              </a:rPr>
              <a:t>init</a:t>
            </a:r>
            <a:r>
              <a:rPr lang="en-US" sz="1600" b="0" i="0" dirty="0">
                <a:solidFill>
                  <a:srgbClr val="273540"/>
                </a:solidFill>
                <a:effectLst/>
                <a:latin typeface="Lato Extended"/>
              </a:rPr>
              <a:t> and shell)</a:t>
            </a:r>
          </a:p>
          <a:p>
            <a:pPr marL="285750" indent="-285750" algn="l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73540"/>
                </a:solidFill>
                <a:latin typeface="Lato Extended"/>
              </a:rPr>
              <a:t>Decrease the maximum </a:t>
            </a:r>
            <a:r>
              <a:rPr lang="en-US" sz="1600" dirty="0" err="1">
                <a:solidFill>
                  <a:srgbClr val="273540"/>
                </a:solidFill>
                <a:latin typeface="Lato Extended"/>
              </a:rPr>
              <a:t>n_proc</a:t>
            </a:r>
            <a:r>
              <a:rPr lang="en-US" sz="1600" dirty="0">
                <a:solidFill>
                  <a:srgbClr val="273540"/>
                </a:solidFill>
                <a:latin typeface="Lato Extended"/>
              </a:rPr>
              <a:t> in test 2</a:t>
            </a:r>
            <a:endParaRPr lang="en-US" sz="1600" b="0" i="0" dirty="0">
              <a:solidFill>
                <a:srgbClr val="273540"/>
              </a:solidFill>
              <a:effectLst/>
              <a:latin typeface="Lato Extended"/>
            </a:endParaRPr>
          </a:p>
          <a:p>
            <a:pPr marL="285750" indent="-285750" algn="l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73540"/>
                </a:solidFill>
                <a:latin typeface="Lato Extended"/>
              </a:rPr>
              <a:t>Edit </a:t>
            </a:r>
            <a:r>
              <a:rPr lang="en-US" sz="1600" dirty="0" err="1">
                <a:solidFill>
                  <a:srgbClr val="273540"/>
                </a:solidFill>
                <a:latin typeface="Lato Extended"/>
              </a:rPr>
              <a:t>Makefile</a:t>
            </a:r>
            <a:r>
              <a:rPr lang="en-US" sz="1600" dirty="0">
                <a:solidFill>
                  <a:srgbClr val="273540"/>
                </a:solidFill>
                <a:latin typeface="Lato Extended"/>
              </a:rPr>
              <a:t> to relate </a:t>
            </a:r>
            <a:r>
              <a:rPr lang="en-US" sz="1600" dirty="0" err="1">
                <a:solidFill>
                  <a:srgbClr val="273540"/>
                </a:solidFill>
                <a:latin typeface="Lato Extended"/>
              </a:rPr>
              <a:t>compute.c</a:t>
            </a:r>
            <a:r>
              <a:rPr lang="en-US" sz="1600" dirty="0">
                <a:solidFill>
                  <a:srgbClr val="273540"/>
                </a:solidFill>
                <a:latin typeface="Lato Extended"/>
              </a:rPr>
              <a:t> to the experiments and add them as user programs</a:t>
            </a:r>
            <a:endParaRPr lang="en-US" sz="1600" b="0" i="0" dirty="0">
              <a:solidFill>
                <a:srgbClr val="273540"/>
              </a:solidFill>
              <a:effectLst/>
              <a:latin typeface="Lato Extended"/>
            </a:endParaRPr>
          </a:p>
          <a:p>
            <a:pPr marL="285750" indent="-285750" algn="l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73540"/>
                </a:solidFill>
                <a:latin typeface="Lato Extended"/>
              </a:rPr>
              <a:t>Edit syntax and includes</a:t>
            </a:r>
            <a:endParaRPr lang="en-US" sz="1600" b="0" i="0" dirty="0">
              <a:solidFill>
                <a:srgbClr val="273540"/>
              </a:solidFill>
              <a:effectLst/>
              <a:latin typeface="Lato Extended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FE7791B-3657-19F7-FEED-5E904C2E8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560" y="4237720"/>
            <a:ext cx="4572003" cy="8257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6F03698-B1F6-7837-8C77-4400625F9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3047" y="878484"/>
            <a:ext cx="2196778" cy="315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917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D6215-7117-4681-7FA1-A0A3073C6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745900D-4131-DBC1-F28C-0FA36D3F9F07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1ED3ADA-2BE6-B6DB-8ABD-DE6D87B3DDAC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2)</a:t>
            </a:r>
            <a:endParaRPr lang="en-US" sz="24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3C05ADBA-83B5-8F4E-3FBF-A51BA4FBF985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4AD9290-8A82-FB0B-7BC0-DE8201596B56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xv6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BAA149-C053-20A1-EC54-F76782F3A1DB}"/>
              </a:ext>
            </a:extLst>
          </p:cNvPr>
          <p:cNvSpPr txBox="1"/>
          <p:nvPr/>
        </p:nvSpPr>
        <p:spPr>
          <a:xfrm>
            <a:off x="178690" y="1160360"/>
            <a:ext cx="6287424" cy="1038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dirty="0">
                <a:solidFill>
                  <a:srgbClr val="273540"/>
                </a:solidFill>
                <a:latin typeface="Lato Extended"/>
              </a:rPr>
              <a:t>When we try to run any of the 2 tests, we get this error:</a:t>
            </a:r>
            <a:endParaRPr lang="en-US" i="0" dirty="0">
              <a:solidFill>
                <a:srgbClr val="273540"/>
              </a:solidFill>
              <a:effectLst/>
              <a:latin typeface="Lato Extended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291CFE-0A6A-F29E-E156-EB8E49F14E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98"/>
          <a:stretch>
            <a:fillRect/>
          </a:stretch>
        </p:blipFill>
        <p:spPr>
          <a:xfrm>
            <a:off x="365760" y="1800224"/>
            <a:ext cx="6164035" cy="64863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FB067A-FA80-DFEB-D832-269846E98F78}"/>
              </a:ext>
            </a:extLst>
          </p:cNvPr>
          <p:cNvSpPr txBox="1"/>
          <p:nvPr/>
        </p:nvSpPr>
        <p:spPr>
          <a:xfrm>
            <a:off x="178690" y="2777796"/>
            <a:ext cx="58919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Why </a:t>
            </a:r>
            <a:r>
              <a:rPr lang="en-US" dirty="0"/>
              <a:t>does this happen?</a:t>
            </a:r>
          </a:p>
          <a:p>
            <a:r>
              <a:rPr lang="en-US" b="1" dirty="0"/>
              <a:t>Answer:</a:t>
            </a:r>
            <a:r>
              <a:rPr lang="en-US" dirty="0"/>
              <a:t> This is because xv6 has a limited disk spaces for files</a:t>
            </a:r>
          </a:p>
          <a:p>
            <a:r>
              <a:rPr lang="en-US" dirty="0"/>
              <a:t>This size is so small, so it’s impossible to save N</a:t>
            </a:r>
          </a:p>
          <a:p>
            <a:r>
              <a:rPr lang="en-US" dirty="0"/>
              <a:t> numbers in the file where N is from 20k to 2M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FDA3EEB-7718-0497-4A0D-E12394F0F5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148" b="17798"/>
          <a:stretch>
            <a:fillRect/>
          </a:stretch>
        </p:blipFill>
        <p:spPr>
          <a:xfrm>
            <a:off x="5004583" y="3424127"/>
            <a:ext cx="4025070" cy="246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224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939B9-E05D-855F-3B2B-FA61D6B67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A4CE4F-53DD-D3B3-D52F-24ED3CB25D14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AFCDC73-BA18-28E4-A1B3-88F50408237B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Answers (Test 2)</a:t>
            </a:r>
            <a:endParaRPr lang="en-US" sz="24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BF92E93B-859C-727E-ADA4-9582FF066C5E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C7EF1D-6ABF-6C2C-561D-B509B3E4B013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Solution for xv6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6C8A3C-CB46-B8FF-F76B-592277B8E1F7}"/>
              </a:ext>
            </a:extLst>
          </p:cNvPr>
          <p:cNvSpPr txBox="1"/>
          <p:nvPr/>
        </p:nvSpPr>
        <p:spPr>
          <a:xfrm>
            <a:off x="178690" y="1160360"/>
            <a:ext cx="5409764" cy="2608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dirty="0">
                <a:solidFill>
                  <a:srgbClr val="273540"/>
                </a:solidFill>
                <a:latin typeface="Lato Extended"/>
              </a:rPr>
              <a:t>Don’t use xv6’s disk space, use RAM</a:t>
            </a:r>
          </a:p>
          <a:p>
            <a:pPr marL="285750" indent="-285750" algn="l">
              <a:spcBef>
                <a:spcPts val="900"/>
              </a:spcBef>
              <a:spcAft>
                <a:spcPts val="900"/>
              </a:spcAft>
              <a:buFont typeface="Wingdings" panose="05000000000000000000" pitchFamily="2" charset="2"/>
              <a:buChar char="è"/>
            </a:pPr>
            <a:r>
              <a:rPr lang="en-US" dirty="0">
                <a:solidFill>
                  <a:srgbClr val="273540"/>
                </a:solidFill>
                <a:latin typeface="Lato Extended"/>
              </a:rPr>
              <a:t>Don’t use 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files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, use allocated memory (</a:t>
            </a:r>
            <a:r>
              <a:rPr lang="en-US" dirty="0">
                <a:solidFill>
                  <a:srgbClr val="00B050"/>
                </a:solidFill>
                <a:latin typeface="Lato Extended"/>
              </a:rPr>
              <a:t>arrays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)</a:t>
            </a:r>
          </a:p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lang="en-US" i="0" dirty="0">
                <a:solidFill>
                  <a:srgbClr val="273540"/>
                </a:solidFill>
                <a:effectLst/>
                <a:latin typeface="Lato Extended"/>
              </a:rPr>
              <a:t>This would require sequential and parallel compute functions to operate on arrays and not files and for the tests to generate these arrays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D161AD-B595-5530-B67B-4F218E864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454" y="1269305"/>
            <a:ext cx="3304415" cy="17493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0AB05A-93D1-F045-9841-908F771CAA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187" y="3510767"/>
            <a:ext cx="2305981" cy="836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7228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92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B5E801-8FC1-B9B0-4BFD-703B4B0BA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103D2B-2620-6CF7-5D47-413B0E41B312}"/>
              </a:ext>
            </a:extLst>
          </p:cNvPr>
          <p:cNvSpPr/>
          <p:nvPr/>
        </p:nvSpPr>
        <p:spPr>
          <a:xfrm>
            <a:off x="0" y="2163536"/>
            <a:ext cx="9144000" cy="777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16A0F1E-24E5-ACDB-A429-10155964A61B}"/>
              </a:ext>
            </a:extLst>
          </p:cNvPr>
          <p:cNvSpPr/>
          <p:nvPr/>
        </p:nvSpPr>
        <p:spPr>
          <a:xfrm>
            <a:off x="316775" y="2197009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0919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1591</Words>
  <Application>Microsoft Office PowerPoint</Application>
  <PresentationFormat>On-screen Show (16:9)</PresentationFormat>
  <Paragraphs>151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Arial</vt:lpstr>
      <vt:lpstr>Calibri</vt:lpstr>
      <vt:lpstr>Consolas</vt:lpstr>
      <vt:lpstr>Lato Extended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Yara2005</cp:lastModifiedBy>
  <cp:revision>11</cp:revision>
  <dcterms:created xsi:type="dcterms:W3CDTF">2026-03-22T10:45:08Z</dcterms:created>
  <dcterms:modified xsi:type="dcterms:W3CDTF">2026-03-30T21:24:07Z</dcterms:modified>
</cp:coreProperties>
</file>