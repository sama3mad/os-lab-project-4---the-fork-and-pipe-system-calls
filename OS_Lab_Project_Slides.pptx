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3" r:id="rId7"/>
    <p:sldId id="264" r:id="rId8"/>
    <p:sldId id="261" r:id="rId9"/>
    <p:sldId id="262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070442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5DE5BB-BF30-2C14-B27F-99A0090ED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AD3F03-F97B-D4F0-8FA2-A06D965A59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45EE75-9139-7857-62CE-C58134B7B5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E9C8D2-117F-F81C-C69D-5A3B584DAA2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3895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32F6D-EE33-66CD-3420-B13D38E82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573A71-D3F9-C8B4-59C0-047FB7C65B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231BD0-9922-D0FA-903A-BA4554B82D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82A8BA-A56C-DC5A-17C3-083BA4E9D1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5269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055077" y="100584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8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Lab Project  4</a:t>
            </a:r>
          </a:p>
        </p:txBody>
      </p:sp>
      <p:sp>
        <p:nvSpPr>
          <p:cNvPr id="4" name="Text 2"/>
          <p:cNvSpPr/>
          <p:nvPr/>
        </p:nvSpPr>
        <p:spPr>
          <a:xfrm>
            <a:off x="1055077" y="19659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vs Parallel Compute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055077" y="260604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1055077" y="3094893"/>
            <a:ext cx="2834640" cy="594360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55077" y="3094893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Deadline: March 23, 11:59 PM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55077" y="3826413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Grade: 14%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Team Roles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60119"/>
            <a:ext cx="3886200" cy="3657599"/>
          </a:xfrm>
          <a:prstGeom prst="rect">
            <a:avLst/>
          </a:prstGeom>
          <a:solidFill>
            <a:srgbClr val="1C2E3E"/>
          </a:solidFill>
          <a:ln w="19050">
            <a:solidFill>
              <a:srgbClr val="00C9A7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3886200" cy="50292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960120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1: Sama Emad Abu Zahra	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1360170"/>
            <a:ext cx="3794760" cy="32232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buFont typeface="+mj-lt"/>
              <a:buAutoNum type="arabicPeriod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sequential_compute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228600" indent="-228600">
              <a:buFont typeface="+mj-lt"/>
              <a:buAutoNum type="arabicPeriod"/>
            </a:pPr>
            <a:endParaRPr lang="en-US" sz="11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buFont typeface="+mj-lt"/>
              <a:buAutoNum type="arabicPeriod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parallel_compute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(forking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n_proc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children, distributing ranges via pipes, collecting results via pipes) </a:t>
            </a:r>
          </a:p>
          <a:p>
            <a:pPr marL="228600" indent="-228600">
              <a:buFont typeface="+mj-lt"/>
              <a:buAutoNum type="arabicPeriod"/>
            </a:pPr>
            <a:endParaRPr lang="en-US" sz="11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buFont typeface="+mj-lt"/>
              <a:buAutoNum type="arabicPeriod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correctness test: run both functions on simple known inputs (like 1,2,3,4,5 with add) and verify they produce identical results, including the edge case where N is not divisible by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n_proc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228600" indent="-228600">
              <a:buFont typeface="+mj-lt"/>
              <a:buAutoNum type="arabicPeriod"/>
            </a:pPr>
            <a:endParaRPr lang="en-US" sz="11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buFont typeface="+mj-lt"/>
              <a:buAutoNum type="arabicPeriod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slides for: roles, pseudo-code of both functions, simple correctness examples, and the pipe/process figure</a:t>
            </a:r>
          </a:p>
        </p:txBody>
      </p:sp>
      <p:sp>
        <p:nvSpPr>
          <p:cNvPr id="8" name="Shape 6"/>
          <p:cNvSpPr/>
          <p:nvPr/>
        </p:nvSpPr>
        <p:spPr>
          <a:xfrm>
            <a:off x="4846320" y="960120"/>
            <a:ext cx="3977640" cy="3657600"/>
          </a:xfrm>
          <a:prstGeom prst="rect">
            <a:avLst/>
          </a:prstGeom>
          <a:solidFill>
            <a:srgbClr val="1C2E3E"/>
          </a:solidFill>
          <a:ln w="19050">
            <a:solidFill>
              <a:srgbClr val="FFB347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846320" y="960120"/>
            <a:ext cx="3977640" cy="502920"/>
          </a:xfrm>
          <a:prstGeom prst="rect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937760" y="960120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2: Yara 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983480" y="1554480"/>
            <a:ext cx="365760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buFont typeface="+mj-lt"/>
              <a:buAutoNum type="arabicPeriod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two test functions (vary N with fixed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n_proc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vary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n_proc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fixed N), each producing at least 50 readings </a:t>
            </a:r>
          </a:p>
          <a:p>
            <a:pPr marL="228600" indent="-228600">
              <a:buFont typeface="+mj-lt"/>
              <a:buAutoNum type="arabicPeriod"/>
            </a:pPr>
            <a:endParaRPr lang="en-US" sz="11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buFont typeface="+mj-lt"/>
              <a:buAutoNum type="arabicPeriod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curve smoothing (run each point an odd number of times, take the median)</a:t>
            </a:r>
          </a:p>
          <a:p>
            <a:pPr marL="228600" indent="-228600">
              <a:buFont typeface="+mj-lt"/>
              <a:buAutoNum type="arabicPeriod"/>
            </a:pPr>
            <a:endParaRPr lang="en-US" sz="11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buFont typeface="+mj-lt"/>
              <a:buAutoNum type="arabicPeriod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the Excel file: 2 sheets, each with raw data and a graph </a:t>
            </a:r>
          </a:p>
          <a:p>
            <a:pPr marL="228600" indent="-228600">
              <a:buFont typeface="+mj-lt"/>
              <a:buAutoNum type="arabicPeriod"/>
            </a:pPr>
            <a:endParaRPr lang="en-US" sz="11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buFont typeface="+mj-lt"/>
              <a:buAutoNum type="arabicPeriod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slides for: how the tests are designed and ranges chosen, the smoothing method, and the comparison results with answers to both questions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sequential_compute — Pseudo-code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3931920" cy="1371600"/>
          </a:xfrm>
          <a:prstGeom prst="rect">
            <a:avLst/>
          </a:prstGeom>
          <a:solidFill>
            <a:srgbClr val="1C2E3E"/>
          </a:solidFill>
          <a:ln w="12700">
            <a:solidFill>
              <a:srgbClr val="3D51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325880"/>
            <a:ext cx="3657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N numbers from a file and applies function f pairwise left-to-right. No forking, no pipes — pure sequential fold.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480560" y="914400"/>
            <a:ext cx="4343400" cy="1371600"/>
          </a:xfrm>
          <a:prstGeom prst="rect">
            <a:avLst/>
          </a:prstGeom>
          <a:solidFill>
            <a:srgbClr val="1C2E3E"/>
          </a:solidFill>
          <a:ln w="12700">
            <a:solidFill>
              <a:srgbClr val="3D51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617720" y="96012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617720" y="132588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sequential_compute(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char *filepath,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int (*f)(int, int)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2423160"/>
            <a:ext cx="8503920" cy="2468880"/>
          </a:xfrm>
          <a:prstGeom prst="rect">
            <a:avLst/>
          </a:prstGeom>
          <a:solidFill>
            <a:srgbClr val="111D2A"/>
          </a:solidFill>
          <a:ln w="12700">
            <a:solidFill>
              <a:srgbClr val="3D5166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48640" y="2514600"/>
            <a:ext cx="8138160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</a:t>
            </a:r>
            <a:r>
              <a:rPr lang="en-US" sz="1300" b="1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sequential_compute</a:t>
            </a: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(filepath, f):
    nums ← </a:t>
            </a:r>
            <a:r>
              <a:rPr lang="en-US" sz="130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read_numbers</a:t>
            </a:r>
            <a:r>
              <a:rPr lang="en-US" sz="1300" dirty="0">
                <a:solidFill>
                  <a:srgbClr val="8B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(filepath)         // parse newline or comma separated
</a:t>
            </a: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← nums[0]
</a:t>
            </a:r>
            <a:r>
              <a:rPr lang="en-US" sz="13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</a:t>
            </a: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1 </a:t>
            </a:r>
            <a:r>
              <a:rPr lang="en-US" sz="13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 </a:t>
            </a: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len(nums) - 1 :
        result ← f(result, nums[i])      // fold left
</a:t>
            </a:r>
            <a:r>
              <a:rPr lang="en-US" sz="13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</a:t>
            </a:r>
            <a:r>
              <a:rPr lang="en-US" sz="1300" dirty="0">
                <a:solidFill>
                  <a:srgbClr val="4CAF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parallel_compute — Pseudo-code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8503920" cy="3977640"/>
          </a:xfrm>
          <a:prstGeom prst="rect">
            <a:avLst/>
          </a:prstGeom>
          <a:solidFill>
            <a:srgbClr val="111D2A"/>
          </a:solidFill>
          <a:ln w="12700">
            <a:solidFill>
              <a:srgbClr val="3D5166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005840"/>
            <a:ext cx="822960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</a:t>
            </a:r>
            <a:r>
              <a:rPr lang="en-US" sz="1150" b="1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parallel_compute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(filepath, n_proc, f):
    nums  ← </a:t>
            </a:r>
            <a:r>
              <a:rPr lang="en-US" sz="115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read_numbers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(filepath)
    chunk ← len(nums) / n_proc
    remainder ← len(nums) % n_proc
</a:t>
            </a:r>
            <a:r>
              <a:rPr lang="en-US" sz="115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0 </a:t>
            </a:r>
            <a:r>
              <a:rPr lang="en-US" sz="115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 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n_proc - 1 :
</a:t>
            </a:r>
            <a:r>
              <a:rPr lang="en-US" sz="1150" dirty="0">
                <a:solidFill>
                  <a:srgbClr val="8B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create ctrl_pipe[i], res_pipe[i]
        fork child i
</a:t>
            </a:r>
            <a:r>
              <a:rPr lang="en-US" sz="115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child :
            start, end ← </a:t>
            </a:r>
            <a:r>
              <a:rPr lang="en-US" sz="115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</a:t>
            </a:r>
            <a:r>
              <a:rPr lang="en-US" sz="1150" dirty="0">
                <a:solidFill>
                  <a:srgbClr val="8B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(ctrl_pipe[i])      // receive slice bounds
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partial ← sequential_compute(nums[start..end], f)
            </a:t>
            </a:r>
            <a:r>
              <a:rPr lang="en-US" sz="115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(res_pipe[i], partial) ; exit()
</a:t>
            </a:r>
            <a:r>
              <a:rPr lang="en-US" sz="115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 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(parent) : </a:t>
            </a:r>
            <a:r>
              <a:rPr lang="en-US" sz="115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(ctrl_pipe[i], start, end)
</a:t>
            </a:r>
            <a:r>
              <a:rPr lang="en-US" sz="115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wait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for all children
    result ← </a:t>
            </a:r>
            <a:r>
              <a:rPr lang="en-US" sz="115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(res_pipe[0])
</a:t>
            </a:r>
            <a:r>
              <a:rPr lang="en-US" sz="115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1 TO n_proc-1 : result ← f(result, </a:t>
            </a:r>
            <a:r>
              <a:rPr lang="en-US" sz="115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(res_pipe[i]))
</a:t>
            </a:r>
            <a:r>
              <a:rPr lang="en-US" sz="115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</a:t>
            </a:r>
            <a:r>
              <a:rPr lang="en-US" sz="1150" dirty="0">
                <a:solidFill>
                  <a:srgbClr val="4CAF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Correctness Examples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8503920" cy="1188720"/>
          </a:xfrm>
          <a:prstGeom prst="rect">
            <a:avLst/>
          </a:prstGeom>
          <a:solidFill>
            <a:srgbClr val="1C2E3E"/>
          </a:solidFill>
          <a:ln w="12700">
            <a:solidFill>
              <a:srgbClr val="3D5166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91440" cy="118872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03327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 [1, 2, 3, 4, 5]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3441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6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Sequential: add(add(add(add(1,2),3),4),5) = 15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1581912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6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Parallel (n_proc=2):  child 0: [1,2] → 3   |   child 1: [3,4,5] → 12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1819656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CAF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f(3, 12) = 15 ✓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2286000"/>
            <a:ext cx="8503920" cy="1188720"/>
          </a:xfrm>
          <a:prstGeom prst="rect">
            <a:avLst/>
          </a:prstGeom>
          <a:solidFill>
            <a:srgbClr val="1C2E3E"/>
          </a:solidFill>
          <a:ln w="12700">
            <a:solidFill>
              <a:srgbClr val="3D5166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20040" y="2286000"/>
            <a:ext cx="91440" cy="118872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235915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 [10, 20, 30]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267004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6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Sequential: multiply(multiply(10,20),30) = 6000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2907792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6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Parallel (n_proc=2):  child 0: [10,20] → 200   |   child 1: [30]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3145536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CAF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f(200, 30) = 6000 ✓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" y="3611880"/>
            <a:ext cx="8503920" cy="1188720"/>
          </a:xfrm>
          <a:prstGeom prst="rect">
            <a:avLst/>
          </a:prstGeom>
          <a:solidFill>
            <a:srgbClr val="1C2E3E"/>
          </a:solidFill>
          <a:ln w="12700">
            <a:solidFill>
              <a:srgbClr val="3D5166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20040" y="3611880"/>
            <a:ext cx="91440" cy="118872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48640" y="368503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 [1, 2, 3, 4, 5, 6, 7]  — N not divisible by n_proc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399592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6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Sequential: n_proc=3, chunk=2, remainder=1 = 28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4233672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6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Parallel (n_proc=3):  child 0: [1,2]→3  child 1:[3,4]→7  child 2:[5,6,7]→18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4471416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CAF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f(f(3,7),18) = 28 ✓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E6D815-5D5E-1326-7230-EB89FB5F9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DAEB403-7BDB-A7F5-6719-DDA4B30562FF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287DF7-EFF4-ECF7-8D34-6824EB6F75A1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Correctness Examples</a:t>
            </a:r>
            <a:endParaRPr lang="en-US" sz="24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C03D163-250C-28D4-E96B-45AE195E05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652" y="1021387"/>
            <a:ext cx="7668695" cy="400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2140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44AFA5-8EE0-A028-A439-1A4E2263DB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551054D-051B-6A31-9950-11EE85ED8696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27FC8DD-39A6-010C-3656-A9FC7AC0BD28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Correctness Examples</a:t>
            </a: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99DC7B-A630-46BE-33DE-717EA012A17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9140"/>
          <a:stretch>
            <a:fillRect/>
          </a:stretch>
        </p:blipFill>
        <p:spPr>
          <a:xfrm>
            <a:off x="428046" y="1516482"/>
            <a:ext cx="8287907" cy="2492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66972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Pipe Architecture in parallel_compute</a:t>
            </a:r>
            <a:endParaRPr lang="en-US" sz="2400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86FB33F3-B83D-3436-A0ED-FE1F4AAA80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1256" y="1053172"/>
            <a:ext cx="6761488" cy="383711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Notes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4114800" cy="1188720"/>
          </a:xfrm>
          <a:prstGeom prst="rect">
            <a:avLst/>
          </a:prstGeom>
          <a:solidFill>
            <a:srgbClr val="1C2E3E"/>
          </a:solidFill>
          <a:ln w="12700">
            <a:solidFill>
              <a:srgbClr val="3D5166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91440" cy="118872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0515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pipes / child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371600"/>
            <a:ext cx="3749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ctrl_pipe sends (start, end) from parent to child.  res_pipe returns the partial result from child to parent.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" y="2304288"/>
            <a:ext cx="4114800" cy="1188720"/>
          </a:xfrm>
          <a:prstGeom prst="rect">
            <a:avLst/>
          </a:prstGeom>
          <a:solidFill>
            <a:srgbClr val="1C2E3E"/>
          </a:solidFill>
          <a:ln w="12700">
            <a:solidFill>
              <a:srgbClr val="3D5166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20040" y="2304288"/>
            <a:ext cx="91440" cy="1188720"/>
          </a:xfrm>
          <a:prstGeom prst="rect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239572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Remainder rule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2715768"/>
            <a:ext cx="3749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 % n_proc ≠ 0, the extra numbers all go to the last child.  Example: 7 numbers, 3 processes → child 2 gets [5,6,7].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" y="3648456"/>
            <a:ext cx="4114800" cy="1188720"/>
          </a:xfrm>
          <a:prstGeom prst="rect">
            <a:avLst/>
          </a:prstGeom>
          <a:solidFill>
            <a:srgbClr val="1C2E3E"/>
          </a:solidFill>
          <a:ln w="12700">
            <a:solidFill>
              <a:srgbClr val="3D5166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20040" y="3648456"/>
            <a:ext cx="91440" cy="1188720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48640" y="3739896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unused ends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4059936"/>
            <a:ext cx="3749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process must close the pipe ends it does not use. 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54880" y="960120"/>
            <a:ext cx="4114800" cy="1188720"/>
          </a:xfrm>
          <a:prstGeom prst="rect">
            <a:avLst/>
          </a:prstGeom>
          <a:solidFill>
            <a:srgbClr val="1C2E3E"/>
          </a:solidFill>
          <a:ln w="12700">
            <a:solidFill>
              <a:srgbClr val="3D5166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754880" y="960120"/>
            <a:ext cx="91440" cy="1188720"/>
          </a:xfrm>
          <a:prstGeom prst="rect">
            <a:avLst/>
          </a:prstGeom>
          <a:solidFill>
            <a:srgbClr val="4CAF86"/>
          </a:solidFill>
          <a:ln w="12700">
            <a:solidFill>
              <a:srgbClr val="4CAF8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83480" y="10515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CA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wait() first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983480" y="1371600"/>
            <a:ext cx="3749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calls wait() for ALL children before reading any result pipe, ensuring partial results are fully written.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54880" y="2304288"/>
            <a:ext cx="4114800" cy="1188720"/>
          </a:xfrm>
          <a:prstGeom prst="rect">
            <a:avLst/>
          </a:prstGeom>
          <a:solidFill>
            <a:srgbClr val="1C2E3E"/>
          </a:solidFill>
          <a:ln w="12700">
            <a:solidFill>
              <a:srgbClr val="3D5166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754880" y="2304288"/>
            <a:ext cx="91440" cy="1188720"/>
          </a:xfrm>
          <a:prstGeom prst="rect">
            <a:avLst/>
          </a:prstGeom>
          <a:solidFill>
            <a:srgbClr val="D6E4F0"/>
          </a:solidFill>
          <a:ln w="12700">
            <a:solidFill>
              <a:srgbClr val="D6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983480" y="239572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is generic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983480" y="2715768"/>
            <a:ext cx="3749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aggregates partial results using f, not +.  Works correctly for add, multiply, max, or any custom function.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754880" y="3648456"/>
            <a:ext cx="4114800" cy="1188720"/>
          </a:xfrm>
          <a:prstGeom prst="rect">
            <a:avLst/>
          </a:prstGeom>
          <a:solidFill>
            <a:srgbClr val="1C2E3E"/>
          </a:solidFill>
          <a:ln w="12700">
            <a:solidFill>
              <a:srgbClr val="3D5166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754880" y="3648456"/>
            <a:ext cx="91440" cy="1188720"/>
          </a:xfrm>
          <a:prstGeom prst="rect">
            <a:avLst/>
          </a:prstGeom>
          <a:solidFill>
            <a:srgbClr val="8BA3B8"/>
          </a:solidFill>
          <a:ln w="12700">
            <a:solidFill>
              <a:srgbClr val="8B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983480" y="3739896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format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983480" y="4059936"/>
            <a:ext cx="3749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Parser handles both newline-separated and comma-separated numbers using strtok with delimiters ",\n\r ".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</TotalTime>
  <Words>907</Words>
  <Application>Microsoft Office PowerPoint</Application>
  <PresentationFormat>On-screen Show (16:9)</PresentationFormat>
  <Paragraphs>70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samaemad</cp:lastModifiedBy>
  <cp:revision>3</cp:revision>
  <dcterms:created xsi:type="dcterms:W3CDTF">2026-03-22T10:45:08Z</dcterms:created>
  <dcterms:modified xsi:type="dcterms:W3CDTF">2026-03-22T07:30:03Z</dcterms:modified>
</cp:coreProperties>
</file>